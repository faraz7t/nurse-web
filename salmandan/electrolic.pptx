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082" autoAdjust="0"/>
    <p:restoredTop sz="94660"/>
  </p:normalViewPr>
  <p:slideViewPr>
    <p:cSldViewPr snapToGrid="0">
      <p:cViewPr varScale="1">
        <p:scale>
          <a:sx n="91" d="100"/>
          <a:sy n="91" d="100"/>
        </p:scale>
        <p:origin x="100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712132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88853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4009241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79935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E14DD3-43B2-4F4B-868B-49253326D0D3}" type="datetimeFigureOut">
              <a:rPr lang="fa-IR" smtClean="0"/>
              <a:t>04/21/1448</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3965539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E14DD3-43B2-4F4B-868B-49253326D0D3}" type="datetimeFigureOut">
              <a:rPr lang="fa-IR" smtClean="0"/>
              <a:t>04/21/1448</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548888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E14DD3-43B2-4F4B-868B-49253326D0D3}" type="datetimeFigureOut">
              <a:rPr lang="fa-IR" smtClean="0"/>
              <a:t>04/21/1448</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812318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997644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6FE14DD3-43B2-4F4B-868B-49253326D0D3}" type="datetimeFigureOut">
              <a:rPr lang="fa-IR" smtClean="0"/>
              <a:t>04/21/1448</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56526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4226459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31278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060145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0983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1489421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2406613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E14DD3-43B2-4F4B-868B-49253326D0D3}" type="datetimeFigureOut">
              <a:rPr lang="fa-IR" smtClean="0"/>
              <a:t>04/21/1448</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5C530F49-BA0F-4E01-8E8D-B9E2E1FD38E3}" type="slidenum">
              <a:rPr lang="fa-IR" smtClean="0"/>
              <a:t>‹#›</a:t>
            </a:fld>
            <a:endParaRPr lang="fa-IR"/>
          </a:p>
        </p:txBody>
      </p:sp>
    </p:spTree>
    <p:extLst>
      <p:ext uri="{BB962C8B-B14F-4D97-AF65-F5344CB8AC3E}">
        <p14:creationId xmlns:p14="http://schemas.microsoft.com/office/powerpoint/2010/main" val="3095845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FE14DD3-43B2-4F4B-868B-49253326D0D3}" type="datetimeFigureOut">
              <a:rPr lang="fa-IR" smtClean="0"/>
              <a:t>04/21/1448</a:t>
            </a:fld>
            <a:endParaRPr lang="fa-I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a-I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C530F49-BA0F-4E01-8E8D-B9E2E1FD38E3}" type="slidenum">
              <a:rPr lang="fa-IR" smtClean="0"/>
              <a:t>‹#›</a:t>
            </a:fld>
            <a:endParaRPr lang="fa-IR"/>
          </a:p>
        </p:txBody>
      </p:sp>
    </p:spTree>
    <p:extLst>
      <p:ext uri="{BB962C8B-B14F-4D97-AF65-F5344CB8AC3E}">
        <p14:creationId xmlns:p14="http://schemas.microsoft.com/office/powerpoint/2010/main" val="4622730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1" eaLnBrk="1" latinLnBrk="0" hangingPunct="1">
        <a:spcBef>
          <a:spcPct val="0"/>
        </a:spcBef>
        <a:buNone/>
        <a:defRPr sz="36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r" defTabSz="457200" rtl="1"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r" defTabSz="457200" rtl="1"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r" defTabSz="457200" rtl="1"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مایعات و الکترولیتها</a:t>
            </a:r>
            <a:endParaRPr lang="fa-IR" dirty="0"/>
          </a:p>
        </p:txBody>
      </p:sp>
      <p:sp>
        <p:nvSpPr>
          <p:cNvPr id="3" name="Content Placeholder 2"/>
          <p:cNvSpPr>
            <a:spLocks noGrp="1"/>
          </p:cNvSpPr>
          <p:nvPr>
            <p:ph idx="1"/>
          </p:nvPr>
        </p:nvSpPr>
        <p:spPr/>
        <p:txBody>
          <a:bodyPr>
            <a:normAutofit lnSpcReduction="10000"/>
          </a:bodyPr>
          <a:lstStyle/>
          <a:p>
            <a:pPr marL="0" indent="0">
              <a:buNone/>
            </a:pPr>
            <a:r>
              <a:rPr lang="fa-IR" b="1" dirty="0" smtClean="0">
                <a:cs typeface="B Nazanin" panose="00000400000000000000" pitchFamily="2" charset="-78"/>
              </a:rPr>
              <a:t>زندگی بدون آب امکانپذیر نیست چرا که آب بخش مهمی از بدن هر انسان را تشکیل داده و باعث عملکرد نرمال بدن می شود.</a:t>
            </a:r>
          </a:p>
          <a:p>
            <a:pPr marL="0" indent="0">
              <a:buNone/>
            </a:pPr>
            <a:r>
              <a:rPr lang="fa-IR" b="1" dirty="0" smtClean="0">
                <a:cs typeface="B Nazanin" panose="00000400000000000000" pitchFamily="2" charset="-78"/>
              </a:rPr>
              <a:t>مقدار </a:t>
            </a:r>
            <a:r>
              <a:rPr lang="fa-IR" b="1" dirty="0">
                <a:cs typeface="B Nazanin" panose="00000400000000000000" pitchFamily="2" charset="-78"/>
              </a:rPr>
              <a:t>و ترکیبات مایعات بدن:</a:t>
            </a:r>
          </a:p>
          <a:p>
            <a:pPr marL="0" indent="0">
              <a:buNone/>
            </a:pPr>
            <a:r>
              <a:rPr lang="fa-IR" b="1" dirty="0">
                <a:cs typeface="B Nazanin" panose="00000400000000000000" pitchFamily="2" charset="-78"/>
              </a:rPr>
              <a:t>تقریبا 60 درصد از وزن افراد </a:t>
            </a:r>
            <a:r>
              <a:rPr lang="fa-IR" b="1" dirty="0" smtClean="0">
                <a:cs typeface="B Nazanin" panose="00000400000000000000" pitchFamily="2" charset="-78"/>
              </a:rPr>
              <a:t>بالغ، </a:t>
            </a:r>
            <a:r>
              <a:rPr lang="fa-IR" b="1" dirty="0">
                <a:cs typeface="B Nazanin" panose="00000400000000000000" pitchFamily="2" charset="-78"/>
              </a:rPr>
              <a:t>مایع (آب و الکترولیت </a:t>
            </a:r>
            <a:r>
              <a:rPr lang="fa-IR" b="1" dirty="0" smtClean="0">
                <a:cs typeface="B Nazanin" panose="00000400000000000000" pitchFamily="2" charset="-78"/>
              </a:rPr>
              <a:t>ها)است(42/5 لیتر در فرد 70 کیلویی</a:t>
            </a:r>
            <a:r>
              <a:rPr lang="fa-IR" b="1" dirty="0" smtClean="0">
                <a:cs typeface="B Nazanin" panose="00000400000000000000" pitchFamily="2" charset="-78"/>
              </a:rPr>
              <a:t>)</a:t>
            </a:r>
            <a:endParaRPr lang="fa-IR" b="1" dirty="0">
              <a:cs typeface="B Nazanin" panose="00000400000000000000" pitchFamily="2" charset="-78"/>
            </a:endParaRPr>
          </a:p>
          <a:p>
            <a:pPr marL="0" indent="0">
              <a:buNone/>
            </a:pPr>
            <a:r>
              <a:rPr lang="fa-IR" b="1" dirty="0">
                <a:cs typeface="B Nazanin" panose="00000400000000000000" pitchFamily="2" charset="-78"/>
              </a:rPr>
              <a:t>3 فاکتور در مقدار مایع بدن تعیین کننده </a:t>
            </a:r>
            <a:r>
              <a:rPr lang="fa-IR" b="1" dirty="0" smtClean="0">
                <a:cs typeface="B Nazanin" panose="00000400000000000000" pitchFamily="2" charset="-78"/>
              </a:rPr>
              <a:t>هستند:</a:t>
            </a:r>
            <a:endParaRPr lang="fa-IR" b="1" dirty="0">
              <a:cs typeface="B Nazanin" panose="00000400000000000000" pitchFamily="2" charset="-78"/>
            </a:endParaRPr>
          </a:p>
          <a:p>
            <a:pPr marL="0" indent="0">
              <a:buNone/>
            </a:pPr>
            <a:r>
              <a:rPr lang="fa-IR" b="1" dirty="0">
                <a:cs typeface="B Nazanin" panose="00000400000000000000" pitchFamily="2" charset="-78"/>
              </a:rPr>
              <a:t>1-سن: بدن </a:t>
            </a:r>
            <a:r>
              <a:rPr lang="fa-IR" b="1" dirty="0" smtClean="0">
                <a:cs typeface="B Nazanin" panose="00000400000000000000" pitchFamily="2" charset="-78"/>
              </a:rPr>
              <a:t>افراد </a:t>
            </a:r>
            <a:r>
              <a:rPr lang="fa-IR" b="1" dirty="0">
                <a:cs typeface="B Nazanin" panose="00000400000000000000" pitchFamily="2" charset="-78"/>
              </a:rPr>
              <a:t>جوان نسبت به افراد پیر مقدار مایع بیشتری </a:t>
            </a:r>
            <a:r>
              <a:rPr lang="fa-IR" b="1" dirty="0" smtClean="0">
                <a:cs typeface="B Nazanin" panose="00000400000000000000" pitchFamily="2" charset="-78"/>
              </a:rPr>
              <a:t>دارد(در نوزادان 70% وزن بدن آب است)</a:t>
            </a:r>
            <a:endParaRPr lang="fa-IR" b="1" dirty="0">
              <a:cs typeface="B Nazanin" panose="00000400000000000000" pitchFamily="2" charset="-78"/>
            </a:endParaRPr>
          </a:p>
          <a:p>
            <a:pPr marL="0" indent="0">
              <a:buNone/>
            </a:pPr>
            <a:r>
              <a:rPr lang="fa-IR" b="1" dirty="0">
                <a:cs typeface="B Nazanin" panose="00000400000000000000" pitchFamily="2" charset="-78"/>
              </a:rPr>
              <a:t>2-جنسیت: بدن مردان نسبت به زنان مقدار مایع بیشتری </a:t>
            </a:r>
            <a:r>
              <a:rPr lang="fa-IR" b="1" dirty="0" smtClean="0">
                <a:cs typeface="B Nazanin" panose="00000400000000000000" pitchFamily="2" charset="-78"/>
              </a:rPr>
              <a:t>دارد(50تا55%  ،وزن زنان ،آب است)</a:t>
            </a:r>
            <a:endParaRPr lang="fa-IR" b="1" dirty="0">
              <a:cs typeface="B Nazanin" panose="00000400000000000000" pitchFamily="2" charset="-78"/>
            </a:endParaRPr>
          </a:p>
          <a:p>
            <a:pPr marL="0" indent="0">
              <a:buNone/>
            </a:pPr>
            <a:r>
              <a:rPr lang="fa-IR" b="1" dirty="0">
                <a:cs typeface="B Nazanin" panose="00000400000000000000" pitchFamily="2" charset="-78"/>
              </a:rPr>
              <a:t>3-چربی بدن: افراد چاق نسبت به افراد لاغر میزان مایع کمتری دارند چون سلولهای چربی حاوی آب کمتری هستند.</a:t>
            </a:r>
          </a:p>
          <a:p>
            <a:pPr marL="0" indent="0">
              <a:buNone/>
            </a:pPr>
            <a:r>
              <a:rPr lang="fa-IR" b="1" dirty="0">
                <a:cs typeface="B Nazanin" panose="00000400000000000000" pitchFamily="2" charset="-78"/>
              </a:rPr>
              <a:t>بافت استخوانی حاوی آب کمی است</a:t>
            </a:r>
          </a:p>
          <a:p>
            <a:pPr marL="0" indent="0">
              <a:buNone/>
            </a:pPr>
            <a:r>
              <a:rPr lang="fa-IR" b="1" dirty="0">
                <a:cs typeface="B Nazanin" panose="00000400000000000000" pitchFamily="2" charset="-78"/>
              </a:rPr>
              <a:t>بالاترین میزان مایع در عضله و خون </a:t>
            </a:r>
            <a:r>
              <a:rPr lang="fa-IR" b="1" dirty="0" smtClean="0">
                <a:cs typeface="B Nazanin" panose="00000400000000000000" pitchFamily="2" charset="-78"/>
              </a:rPr>
              <a:t>و پوست </a:t>
            </a:r>
            <a:r>
              <a:rPr lang="fa-IR" b="1" dirty="0">
                <a:cs typeface="B Nazanin" panose="00000400000000000000" pitchFamily="2" charset="-78"/>
              </a:rPr>
              <a:t>است</a:t>
            </a:r>
          </a:p>
          <a:p>
            <a:endParaRPr lang="fa-IR" dirty="0"/>
          </a:p>
        </p:txBody>
      </p:sp>
    </p:spTree>
    <p:extLst>
      <p:ext uri="{BB962C8B-B14F-4D97-AF65-F5344CB8AC3E}">
        <p14:creationId xmlns:p14="http://schemas.microsoft.com/office/powerpoint/2010/main" val="5922476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solidFill>
                  <a:schemeClr val="bg2">
                    <a:lumMod val="10000"/>
                  </a:schemeClr>
                </a:solidFill>
                <a:cs typeface="B Nazanin" panose="00000400000000000000" pitchFamily="2" charset="-78"/>
              </a:rPr>
              <a:t>دسته بندی مایعات بدن</a:t>
            </a:r>
            <a:endParaRPr lang="fa-IR" dirty="0">
              <a:solidFill>
                <a:schemeClr val="bg2">
                  <a:lumMod val="10000"/>
                </a:schemeClr>
              </a:solidFill>
              <a:cs typeface="B Nazanin" panose="00000400000000000000" pitchFamily="2" charset="-78"/>
            </a:endParaRPr>
          </a:p>
        </p:txBody>
      </p:sp>
      <p:sp>
        <p:nvSpPr>
          <p:cNvPr id="3" name="Content Placeholder 2"/>
          <p:cNvSpPr>
            <a:spLocks noGrp="1"/>
          </p:cNvSpPr>
          <p:nvPr>
            <p:ph idx="1"/>
          </p:nvPr>
        </p:nvSpPr>
        <p:spPr/>
        <p:txBody>
          <a:bodyPr/>
          <a:lstStyle/>
          <a:p>
            <a:r>
              <a:rPr lang="fa-IR" b="1" dirty="0" smtClean="0">
                <a:cs typeface="B Nazanin" panose="00000400000000000000" pitchFamily="2" charset="-78"/>
              </a:rPr>
              <a:t>مایعات بدن در دو اتاقک مجزا قرار </a:t>
            </a:r>
            <a:r>
              <a:rPr lang="fa-IR" b="1" dirty="0" smtClean="0">
                <a:cs typeface="B Nazanin" panose="00000400000000000000" pitchFamily="2" charset="-78"/>
              </a:rPr>
              <a:t>دارد: </a:t>
            </a:r>
          </a:p>
          <a:p>
            <a:endParaRPr lang="fa-IR" b="1" dirty="0" smtClean="0">
              <a:cs typeface="B Nazanin" panose="00000400000000000000" pitchFamily="2" charset="-78"/>
            </a:endParaRPr>
          </a:p>
          <a:p>
            <a:r>
              <a:rPr lang="fa-IR" b="1" dirty="0" smtClean="0">
                <a:cs typeface="B Nazanin" panose="00000400000000000000" pitchFamily="2" charset="-78"/>
              </a:rPr>
              <a:t>67% فضای </a:t>
            </a:r>
            <a:r>
              <a:rPr lang="fa-IR" b="1" dirty="0" smtClean="0">
                <a:cs typeface="B Nazanin" panose="00000400000000000000" pitchFamily="2" charset="-78"/>
              </a:rPr>
              <a:t>داخل سلولی(</a:t>
            </a:r>
            <a:r>
              <a:rPr lang="en-US" b="1" dirty="0" smtClean="0">
                <a:cs typeface="B Nazanin" panose="00000400000000000000" pitchFamily="2" charset="-78"/>
              </a:rPr>
              <a:t>ICF</a:t>
            </a:r>
            <a:r>
              <a:rPr lang="fa-IR" b="1" dirty="0" smtClean="0">
                <a:cs typeface="B Nazanin" panose="00000400000000000000" pitchFamily="2" charset="-78"/>
              </a:rPr>
              <a:t>)</a:t>
            </a:r>
            <a:r>
              <a:rPr lang="en-US" b="1" dirty="0" smtClean="0">
                <a:cs typeface="B Nazanin" panose="00000400000000000000" pitchFamily="2" charset="-78"/>
              </a:rPr>
              <a:t>intra cellular fluid</a:t>
            </a:r>
          </a:p>
          <a:p>
            <a:r>
              <a:rPr lang="fa-IR" b="1" dirty="0" smtClean="0">
                <a:cs typeface="B Nazanin" panose="00000400000000000000" pitchFamily="2" charset="-78"/>
              </a:rPr>
              <a:t>33% فضای </a:t>
            </a:r>
            <a:r>
              <a:rPr lang="fa-IR" b="1" dirty="0" smtClean="0">
                <a:cs typeface="B Nazanin" panose="00000400000000000000" pitchFamily="2" charset="-78"/>
              </a:rPr>
              <a:t>خارج سلولی(</a:t>
            </a:r>
            <a:r>
              <a:rPr lang="en-US" b="1" dirty="0" smtClean="0">
                <a:cs typeface="B Nazanin" panose="00000400000000000000" pitchFamily="2" charset="-78"/>
              </a:rPr>
              <a:t>ECF</a:t>
            </a:r>
            <a:r>
              <a:rPr lang="fa-IR" b="1" dirty="0" smtClean="0">
                <a:cs typeface="B Nazanin" panose="00000400000000000000" pitchFamily="2" charset="-78"/>
              </a:rPr>
              <a:t>)</a:t>
            </a:r>
            <a:r>
              <a:rPr lang="en-US" b="1" dirty="0" smtClean="0">
                <a:cs typeface="B Nazanin" panose="00000400000000000000" pitchFamily="2" charset="-78"/>
              </a:rPr>
              <a:t>Extra cellular </a:t>
            </a:r>
            <a:r>
              <a:rPr lang="en-US" b="1" dirty="0" smtClean="0">
                <a:cs typeface="B Nazanin" panose="00000400000000000000" pitchFamily="2" charset="-78"/>
              </a:rPr>
              <a:t>fluid</a:t>
            </a:r>
          </a:p>
          <a:p>
            <a:endParaRPr lang="fa-IR" b="1" dirty="0" smtClean="0">
              <a:cs typeface="B Nazanin" panose="00000400000000000000" pitchFamily="2" charset="-78"/>
            </a:endParaRPr>
          </a:p>
          <a:p>
            <a:r>
              <a:rPr lang="fa-IR" b="1" dirty="0" smtClean="0">
                <a:cs typeface="B Nazanin" panose="00000400000000000000" pitchFamily="2" charset="-78"/>
              </a:rPr>
              <a:t>دو سوم مایعات بدن در مایع داخل سلولی است(28 لیتر) که اکثرا در توده عضلانی اسکلتی است</a:t>
            </a:r>
          </a:p>
          <a:p>
            <a:r>
              <a:rPr lang="fa-IR" b="1" dirty="0" smtClean="0">
                <a:cs typeface="B Nazanin" panose="00000400000000000000" pitchFamily="2" charset="-78"/>
              </a:rPr>
              <a:t>یک سوم مایع در فضای خارج سلولی است(14/5 لیتر</a:t>
            </a:r>
            <a:r>
              <a:rPr lang="fa-IR" b="1" dirty="0" smtClean="0">
                <a:cs typeface="B Nazanin" panose="00000400000000000000" pitchFamily="2" charset="-78"/>
              </a:rPr>
              <a:t>)</a:t>
            </a:r>
          </a:p>
          <a:p>
            <a:r>
              <a:rPr lang="fa-IR" b="1" dirty="0" smtClean="0">
                <a:cs typeface="B Nazanin" panose="00000400000000000000" pitchFamily="2" charset="-78"/>
              </a:rPr>
              <a:t>یونهای اصلی مایع درون سلولی </a:t>
            </a:r>
            <a:r>
              <a:rPr lang="fa-IR" b="1" dirty="0" smtClean="0">
                <a:solidFill>
                  <a:srgbClr val="C00000"/>
                </a:solidFill>
                <a:cs typeface="B Nazanin" panose="00000400000000000000" pitchFamily="2" charset="-78"/>
              </a:rPr>
              <a:t>پتاسیم و منیزیم </a:t>
            </a:r>
            <a:r>
              <a:rPr lang="fa-IR" b="1" dirty="0" smtClean="0">
                <a:cs typeface="B Nazanin" panose="00000400000000000000" pitchFamily="2" charset="-78"/>
              </a:rPr>
              <a:t>است</a:t>
            </a:r>
          </a:p>
          <a:p>
            <a:r>
              <a:rPr lang="fa-IR" b="1" dirty="0" smtClean="0">
                <a:cs typeface="B Nazanin" panose="00000400000000000000" pitchFamily="2" charset="-78"/>
              </a:rPr>
              <a:t>یونهای اصلی مایع برون سلولی </a:t>
            </a:r>
            <a:r>
              <a:rPr lang="fa-IR" b="1" dirty="0" smtClean="0">
                <a:solidFill>
                  <a:srgbClr val="C00000"/>
                </a:solidFill>
                <a:cs typeface="B Nazanin" panose="00000400000000000000" pitchFamily="2" charset="-78"/>
              </a:rPr>
              <a:t>سدیم و کلر و بیکربنات </a:t>
            </a:r>
            <a:r>
              <a:rPr lang="fa-IR" b="1" dirty="0" smtClean="0">
                <a:cs typeface="B Nazanin" panose="00000400000000000000" pitchFamily="2" charset="-78"/>
              </a:rPr>
              <a:t>است.</a:t>
            </a:r>
            <a:endParaRPr lang="fa-IR" b="1" dirty="0" smtClean="0">
              <a:cs typeface="B Nazanin" panose="00000400000000000000" pitchFamily="2" charset="-78"/>
            </a:endParaRPr>
          </a:p>
          <a:p>
            <a:endParaRPr lang="en-US" b="1" dirty="0" smtClean="0">
              <a:cs typeface="B Nazanin" panose="00000400000000000000" pitchFamily="2" charset="-78"/>
            </a:endParaRPr>
          </a:p>
          <a:p>
            <a:endParaRPr lang="fa-IR" b="1" dirty="0">
              <a:cs typeface="B Nazanin" panose="00000400000000000000" pitchFamily="2" charset="-78"/>
            </a:endParaRPr>
          </a:p>
        </p:txBody>
      </p:sp>
    </p:spTree>
    <p:extLst>
      <p:ext uri="{BB962C8B-B14F-4D97-AF65-F5344CB8AC3E}">
        <p14:creationId xmlns:p14="http://schemas.microsoft.com/office/powerpoint/2010/main" val="40745969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فضای خارج سلولی</a:t>
            </a:r>
            <a:endParaRPr lang="fa-IR" dirty="0"/>
          </a:p>
        </p:txBody>
      </p:sp>
      <p:sp>
        <p:nvSpPr>
          <p:cNvPr id="3" name="Content Placeholder 2"/>
          <p:cNvSpPr>
            <a:spLocks noGrp="1"/>
          </p:cNvSpPr>
          <p:nvPr>
            <p:ph idx="1"/>
          </p:nvPr>
        </p:nvSpPr>
        <p:spPr/>
        <p:txBody>
          <a:bodyPr/>
          <a:lstStyle/>
          <a:p>
            <a:pPr marL="0" indent="0">
              <a:buNone/>
            </a:pPr>
            <a:r>
              <a:rPr lang="fa-IR" dirty="0" smtClean="0"/>
              <a:t>1</a:t>
            </a:r>
            <a:r>
              <a:rPr lang="fa-IR" b="1" dirty="0" smtClean="0">
                <a:cs typeface="B Nazanin" panose="00000400000000000000" pitchFamily="2" charset="-78"/>
              </a:rPr>
              <a:t>-مایع یا فضای </a:t>
            </a:r>
            <a:r>
              <a:rPr lang="fa-IR" b="1" dirty="0" smtClean="0">
                <a:cs typeface="B Nazanin" panose="00000400000000000000" pitchFamily="2" charset="-78"/>
              </a:rPr>
              <a:t>داخل عروقی:حاوی پلاسما است (حدود 3/5 لیتر)</a:t>
            </a:r>
          </a:p>
          <a:p>
            <a:pPr marL="0" indent="0">
              <a:buNone/>
            </a:pPr>
            <a:endParaRPr lang="fa-IR" b="1" dirty="0" smtClean="0">
              <a:cs typeface="B Nazanin" panose="00000400000000000000" pitchFamily="2" charset="-78"/>
            </a:endParaRPr>
          </a:p>
          <a:p>
            <a:pPr marL="0" indent="0">
              <a:buNone/>
            </a:pPr>
            <a:r>
              <a:rPr lang="fa-IR" b="1" dirty="0" smtClean="0">
                <a:cs typeface="B Nazanin" panose="00000400000000000000" pitchFamily="2" charset="-78"/>
              </a:rPr>
              <a:t>2-فضا یا مایع میان بافتی(حدود 10 لیتر) مثل مایع لنف</a:t>
            </a:r>
          </a:p>
          <a:p>
            <a:pPr marL="0" indent="0">
              <a:buNone/>
            </a:pPr>
            <a:endParaRPr lang="fa-IR" b="1" dirty="0" smtClean="0">
              <a:cs typeface="B Nazanin" panose="00000400000000000000" pitchFamily="2" charset="-78"/>
            </a:endParaRPr>
          </a:p>
          <a:p>
            <a:pPr marL="0" indent="0">
              <a:buNone/>
            </a:pPr>
            <a:r>
              <a:rPr lang="fa-IR" b="1" dirty="0" smtClean="0">
                <a:cs typeface="B Nazanin" panose="00000400000000000000" pitchFamily="2" charset="-78"/>
              </a:rPr>
              <a:t>3-مایع یا فضای </a:t>
            </a:r>
            <a:r>
              <a:rPr lang="fa-IR" b="1" dirty="0" smtClean="0">
                <a:cs typeface="B Nazanin" panose="00000400000000000000" pitchFamily="2" charset="-78"/>
              </a:rPr>
              <a:t>میان سلولی(حدود 1 لیتر) مثل مایع مغزی نخاعی ، پریکارد، پلور ،سینوویال و عرق</a:t>
            </a:r>
            <a:endParaRPr lang="fa-IR" b="1" dirty="0">
              <a:cs typeface="B Nazanin" panose="00000400000000000000" pitchFamily="2" charset="-78"/>
            </a:endParaRPr>
          </a:p>
        </p:txBody>
      </p:sp>
    </p:spTree>
    <p:extLst>
      <p:ext uri="{BB962C8B-B14F-4D97-AF65-F5344CB8AC3E}">
        <p14:creationId xmlns:p14="http://schemas.microsoft.com/office/powerpoint/2010/main" val="22084143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28034" y="609600"/>
            <a:ext cx="9285667" cy="6364310"/>
          </a:xfrm>
        </p:spPr>
      </p:pic>
    </p:spTree>
    <p:extLst>
      <p:ext uri="{BB962C8B-B14F-4D97-AF65-F5344CB8AC3E}">
        <p14:creationId xmlns:p14="http://schemas.microsoft.com/office/powerpoint/2010/main" val="1202843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77462"/>
          </a:xfrm>
        </p:spPr>
        <p:txBody>
          <a:bodyPr/>
          <a:lstStyle/>
          <a:p>
            <a:pPr algn="ctr"/>
            <a:r>
              <a:rPr lang="fa-IR" dirty="0" smtClean="0">
                <a:solidFill>
                  <a:schemeClr val="tx1">
                    <a:lumMod val="75000"/>
                    <a:lumOff val="25000"/>
                  </a:schemeClr>
                </a:solidFill>
                <a:cs typeface="B Nazanin" panose="00000400000000000000" pitchFamily="2" charset="-78"/>
              </a:rPr>
              <a:t>مایع میان بافتی</a:t>
            </a:r>
            <a:endParaRPr lang="fa-IR" dirty="0">
              <a:solidFill>
                <a:schemeClr val="tx1">
                  <a:lumMod val="75000"/>
                  <a:lumOff val="25000"/>
                </a:schemeClr>
              </a:solidFill>
              <a:cs typeface="B Nazanin" panose="00000400000000000000" pitchFamily="2" charset="-78"/>
            </a:endParaRPr>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این مایع در فضاهای باریک بین بافتهای ارگانهای بدن توزیع شده است</a:t>
            </a:r>
          </a:p>
          <a:p>
            <a:r>
              <a:rPr lang="fa-IR" b="1" dirty="0" smtClean="0">
                <a:cs typeface="B Nazanin" panose="00000400000000000000" pitchFamily="2" charset="-78"/>
              </a:rPr>
              <a:t>حدود 15% وزن بدن (10/5لیتر)را تشکیل می دهد.</a:t>
            </a:r>
            <a:endParaRPr lang="fa-IR" b="1" dirty="0" smtClean="0">
              <a:cs typeface="B Nazanin" panose="00000400000000000000" pitchFamily="2" charset="-78"/>
            </a:endParaRPr>
          </a:p>
          <a:p>
            <a:r>
              <a:rPr lang="fa-IR" b="1" dirty="0" smtClean="0">
                <a:cs typeface="B Nazanin" panose="00000400000000000000" pitchFamily="2" charset="-78"/>
              </a:rPr>
              <a:t>وجود این مایع بسیار ضروری است چرا که </a:t>
            </a:r>
            <a:r>
              <a:rPr lang="fa-IR" b="1" dirty="0" smtClean="0">
                <a:cs typeface="B Nazanin" panose="00000400000000000000" pitchFamily="2" charset="-78"/>
              </a:rPr>
              <a:t> </a:t>
            </a:r>
            <a:r>
              <a:rPr lang="fa-IR" b="1" dirty="0" smtClean="0">
                <a:cs typeface="B Nazanin" panose="00000400000000000000" pitchFamily="2" charset="-78"/>
              </a:rPr>
              <a:t>الکترولیتها و آنزیمها و هورمونها </a:t>
            </a:r>
            <a:r>
              <a:rPr lang="fa-IR" b="1" dirty="0" smtClean="0">
                <a:cs typeface="B Nazanin" panose="00000400000000000000" pitchFamily="2" charset="-78"/>
              </a:rPr>
              <a:t>ومواد غذایی را </a:t>
            </a:r>
            <a:r>
              <a:rPr lang="fa-IR" b="1" dirty="0" smtClean="0">
                <a:cs typeface="B Nazanin" panose="00000400000000000000" pitchFamily="2" charset="-78"/>
              </a:rPr>
              <a:t>حمل و منتقل می </a:t>
            </a:r>
            <a:r>
              <a:rPr lang="fa-IR" b="1" dirty="0" smtClean="0">
                <a:cs typeface="B Nazanin" panose="00000400000000000000" pitchFamily="2" charset="-78"/>
              </a:rPr>
              <a:t>کند.</a:t>
            </a:r>
          </a:p>
          <a:p>
            <a:r>
              <a:rPr lang="fa-IR" b="1" dirty="0" smtClean="0">
                <a:cs typeface="B Nazanin" panose="00000400000000000000" pitchFamily="2" charset="-78"/>
              </a:rPr>
              <a:t>در کل :</a:t>
            </a:r>
            <a:endParaRPr lang="fa-IR" b="1" dirty="0" smtClean="0">
              <a:cs typeface="B Nazanin" panose="00000400000000000000" pitchFamily="2" charset="-78"/>
            </a:endParaRPr>
          </a:p>
          <a:p>
            <a:r>
              <a:rPr lang="fa-IR" b="1" dirty="0" smtClean="0">
                <a:cs typeface="B Nazanin" panose="00000400000000000000" pitchFamily="2" charset="-78"/>
              </a:rPr>
              <a:t>مایع بدن بطور طبیعی  در بین دو فضای داخل وخارج سلولی در حال تعادل است</a:t>
            </a:r>
          </a:p>
          <a:p>
            <a:r>
              <a:rPr lang="fa-IR" b="1" dirty="0" smtClean="0">
                <a:cs typeface="B Nazanin" panose="00000400000000000000" pitchFamily="2" charset="-78"/>
              </a:rPr>
              <a:t>از دست دادن مایع بدن(خونریزی و اسهال و استفراغ و ...) می تواند این تعادل را بر هم بزند</a:t>
            </a:r>
          </a:p>
          <a:p>
            <a:r>
              <a:rPr lang="fa-IR" b="1" dirty="0" smtClean="0">
                <a:cs typeface="B Nazanin" panose="00000400000000000000" pitchFamily="2" charset="-78"/>
              </a:rPr>
              <a:t>راه یافتن  مایع خارج سلولی در اثر بیماریها و تروما و غیره به جایی از بدن که در برقراری تعادل بین مایع داخل سلول و مایع خارج سلول  کمک نمی کند تحت عنوان شیفت مایع به فضای سوم نامیده می شود</a:t>
            </a:r>
            <a:endParaRPr lang="fa-IR" b="1" dirty="0">
              <a:cs typeface="B Nazanin" panose="00000400000000000000" pitchFamily="2" charset="-78"/>
            </a:endParaRPr>
          </a:p>
        </p:txBody>
      </p:sp>
    </p:spTree>
    <p:extLst>
      <p:ext uri="{BB962C8B-B14F-4D97-AF65-F5344CB8AC3E}">
        <p14:creationId xmlns:p14="http://schemas.microsoft.com/office/powerpoint/2010/main" val="421225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فضای سوم</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جمع شدن مایع در جایی از بدن که نباید جمع شود</a:t>
            </a:r>
          </a:p>
          <a:p>
            <a:r>
              <a:rPr lang="fa-IR" b="1" dirty="0" smtClean="0">
                <a:cs typeface="B Nazanin" panose="00000400000000000000" pitchFamily="2" charset="-78"/>
              </a:rPr>
              <a:t>آسیت(جمع شدن مایع در حفره پریتوئن)</a:t>
            </a:r>
          </a:p>
          <a:p>
            <a:r>
              <a:rPr lang="fa-IR" b="1" dirty="0" smtClean="0">
                <a:cs typeface="B Nazanin" panose="00000400000000000000" pitchFamily="2" charset="-78"/>
              </a:rPr>
              <a:t>پلورال افیوژن(جمع شدن مایع درپلور یا فضای جنب بیمار)</a:t>
            </a:r>
          </a:p>
          <a:p>
            <a:r>
              <a:rPr lang="fa-IR" b="1" dirty="0" smtClean="0">
                <a:cs typeface="B Nazanin" panose="00000400000000000000" pitchFamily="2" charset="-78"/>
              </a:rPr>
              <a:t>پریکاردیال افیوژن(جمع شدن مایع در بین دو لایه پریکارد قلب)</a:t>
            </a:r>
          </a:p>
          <a:p>
            <a:r>
              <a:rPr lang="fa-IR" b="1" dirty="0" smtClean="0">
                <a:cs typeface="B Nazanin" panose="00000400000000000000" pitchFamily="2" charset="-78"/>
              </a:rPr>
              <a:t>ادم جنرالیزه(جمع شدن غیر طبیعی مایع زیاد در قسمتهای مختلف بدن و زیر پوست)</a:t>
            </a:r>
          </a:p>
          <a:p>
            <a:r>
              <a:rPr lang="fa-IR" b="1" dirty="0" smtClean="0">
                <a:cs typeface="B Nazanin" panose="00000400000000000000" pitchFamily="2" charset="-78"/>
              </a:rPr>
              <a:t>با خارج شدن مایع از داخل عروق به فضای سوم حجم داخل عروق کم شده وفشار خون افت کرده و بدنبال آن ضربان قلب افزایش می یابد و از  طرفی با افت فشار خون، پرفیوژن یا خونرسانی کلیه کم شده و ادرار بیمار کم می شود</a:t>
            </a:r>
            <a:endParaRPr lang="fa-IR" b="1" dirty="0">
              <a:cs typeface="B Nazanin" panose="00000400000000000000" pitchFamily="2" charset="-78"/>
            </a:endParaRPr>
          </a:p>
        </p:txBody>
      </p:sp>
    </p:spTree>
    <p:extLst>
      <p:ext uri="{BB962C8B-B14F-4D97-AF65-F5344CB8AC3E}">
        <p14:creationId xmlns:p14="http://schemas.microsoft.com/office/powerpoint/2010/main" val="26390693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الکترولیت ها</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الکترولیتها عناصر شیمیایی فعال در بدن هستند(کاتیونهای با بار مثبت و آنیونهای با بار منفی)</a:t>
            </a:r>
          </a:p>
          <a:p>
            <a:r>
              <a:rPr lang="fa-IR" b="1" dirty="0" smtClean="0">
                <a:cs typeface="B Nazanin" panose="00000400000000000000" pitchFamily="2" charset="-78"/>
              </a:rPr>
              <a:t>کاتیونهای </a:t>
            </a:r>
            <a:r>
              <a:rPr lang="fa-IR" b="1" dirty="0" smtClean="0">
                <a:cs typeface="B Nazanin" panose="00000400000000000000" pitchFamily="2" charset="-78"/>
              </a:rPr>
              <a:t>مایعات </a:t>
            </a:r>
            <a:r>
              <a:rPr lang="fa-IR" b="1" dirty="0" smtClean="0">
                <a:cs typeface="B Nazanin" panose="00000400000000000000" pitchFamily="2" charset="-78"/>
              </a:rPr>
              <a:t>بدن شامل سدیم و پتاسیم و کلسیم و منیزیوم و یون هیدروژن هستند</a:t>
            </a:r>
          </a:p>
          <a:p>
            <a:r>
              <a:rPr lang="fa-IR" b="1" dirty="0" smtClean="0">
                <a:cs typeface="B Nazanin" panose="00000400000000000000" pitchFamily="2" charset="-78"/>
              </a:rPr>
              <a:t>آنیونها شامل کلرید و بی کربنات و فسفات و سولفات و یونهای پروتئینه هستند</a:t>
            </a:r>
          </a:p>
          <a:p>
            <a:r>
              <a:rPr lang="fa-IR" b="1" dirty="0" smtClean="0">
                <a:cs typeface="B Nazanin" panose="00000400000000000000" pitchFamily="2" charset="-78"/>
              </a:rPr>
              <a:t>غلظت الکترولیتها در بدن بر حسب میلی اکی والان در لیتر بیان می شود که واحد فعالیت شیمیایی است</a:t>
            </a:r>
          </a:p>
          <a:p>
            <a:pPr marL="0" indent="0">
              <a:buNone/>
            </a:pPr>
            <a:endParaRPr lang="fa-IR" b="1" dirty="0" smtClean="0">
              <a:cs typeface="B Nazanin" panose="00000400000000000000" pitchFamily="2" charset="-78"/>
            </a:endParaRPr>
          </a:p>
          <a:p>
            <a:r>
              <a:rPr lang="fa-IR" b="1" dirty="0" smtClean="0">
                <a:solidFill>
                  <a:srgbClr val="FF0000"/>
                </a:solidFill>
                <a:cs typeface="B Nazanin" panose="00000400000000000000" pitchFamily="2" charset="-78"/>
              </a:rPr>
              <a:t>غلظت الکترولیتها در مایع داخل سلولی با غلظت آنها در مایع خارج سلولی برابر نیست</a:t>
            </a:r>
            <a:endParaRPr lang="fa-IR" b="1" dirty="0">
              <a:solidFill>
                <a:srgbClr val="FF0000"/>
              </a:solidFill>
              <a:cs typeface="B Nazanin" panose="00000400000000000000" pitchFamily="2" charset="-78"/>
            </a:endParaRPr>
          </a:p>
        </p:txBody>
      </p:sp>
    </p:spTree>
    <p:extLst>
      <p:ext uri="{BB962C8B-B14F-4D97-AF65-F5344CB8AC3E}">
        <p14:creationId xmlns:p14="http://schemas.microsoft.com/office/powerpoint/2010/main" val="37297626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برای اندازه گیری الکترولیتها در </a:t>
            </a:r>
            <a:r>
              <a:rPr lang="fa-IR" b="1" dirty="0" smtClean="0">
                <a:solidFill>
                  <a:srgbClr val="FF0000"/>
                </a:solidFill>
                <a:cs typeface="B Nazanin" panose="00000400000000000000" pitchFamily="2" charset="-78"/>
              </a:rPr>
              <a:t>مایع خارج سلولی </a:t>
            </a:r>
            <a:r>
              <a:rPr lang="fa-IR" b="1" dirty="0" smtClean="0">
                <a:cs typeface="B Nazanin" panose="00000400000000000000" pitchFamily="2" charset="-78"/>
              </a:rPr>
              <a:t>از در دسترس ترین قسمت مایع خارج سلولی که </a:t>
            </a:r>
            <a:r>
              <a:rPr lang="fa-IR" b="1" dirty="0" smtClean="0">
                <a:solidFill>
                  <a:srgbClr val="FF0000"/>
                </a:solidFill>
                <a:cs typeface="B Nazanin" panose="00000400000000000000" pitchFamily="2" charset="-78"/>
              </a:rPr>
              <a:t>پلاسمای</a:t>
            </a:r>
            <a:r>
              <a:rPr lang="fa-IR" b="1" dirty="0" smtClean="0">
                <a:cs typeface="B Nazanin" panose="00000400000000000000" pitchFamily="2" charset="-78"/>
              </a:rPr>
              <a:t> خون است استفاده می شود</a:t>
            </a:r>
          </a:p>
          <a:p>
            <a:r>
              <a:rPr lang="fa-IR" b="1" dirty="0" smtClean="0">
                <a:cs typeface="B Nazanin" panose="00000400000000000000" pitchFamily="2" charset="-78"/>
              </a:rPr>
              <a:t>بیشترین </a:t>
            </a:r>
            <a:r>
              <a:rPr lang="fa-IR" b="1" dirty="0" smtClean="0">
                <a:solidFill>
                  <a:srgbClr val="FF0000"/>
                </a:solidFill>
                <a:cs typeface="B Nazanin" panose="00000400000000000000" pitchFamily="2" charset="-78"/>
              </a:rPr>
              <a:t>کاتیون خارج سلولی </a:t>
            </a:r>
            <a:r>
              <a:rPr lang="fa-IR" b="1" dirty="0" smtClean="0">
                <a:cs typeface="B Nazanin" panose="00000400000000000000" pitchFamily="2" charset="-78"/>
              </a:rPr>
              <a:t>سدیم است بنابراین در تنظیم حجم مایع، </a:t>
            </a:r>
            <a:r>
              <a:rPr lang="fa-IR" b="1" dirty="0" smtClean="0">
                <a:solidFill>
                  <a:srgbClr val="FF0000"/>
                </a:solidFill>
                <a:cs typeface="B Nazanin" panose="00000400000000000000" pitchFamily="2" charset="-78"/>
              </a:rPr>
              <a:t>سدیم نقش اصلی </a:t>
            </a:r>
            <a:r>
              <a:rPr lang="fa-IR" b="1" dirty="0" smtClean="0">
                <a:cs typeface="B Nazanin" panose="00000400000000000000" pitchFamily="2" charset="-78"/>
              </a:rPr>
              <a:t>را دارد</a:t>
            </a:r>
          </a:p>
          <a:p>
            <a:r>
              <a:rPr lang="fa-IR" b="1" dirty="0" smtClean="0">
                <a:cs typeface="B Nazanin" panose="00000400000000000000" pitchFamily="2" charset="-78"/>
              </a:rPr>
              <a:t>بنابراین احتباس سدیم در خون احتباس مایع را بدنبال دارد و کاهش میزان سدیم کاهش حجم مایع را بدنبال دارد</a:t>
            </a:r>
            <a:endParaRPr lang="fa-IR" b="1" dirty="0">
              <a:cs typeface="B Nazanin" panose="00000400000000000000" pitchFamily="2" charset="-78"/>
            </a:endParaRPr>
          </a:p>
        </p:txBody>
      </p:sp>
    </p:spTree>
    <p:extLst>
      <p:ext uri="{BB962C8B-B14F-4D97-AF65-F5344CB8AC3E}">
        <p14:creationId xmlns:p14="http://schemas.microsoft.com/office/powerpoint/2010/main" val="37083391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الکترولیتهای عمده در </a:t>
            </a:r>
            <a:r>
              <a:rPr lang="fa-IR" b="1" dirty="0" smtClean="0">
                <a:solidFill>
                  <a:srgbClr val="FF0000"/>
                </a:solidFill>
                <a:cs typeface="B Nazanin" panose="00000400000000000000" pitchFamily="2" charset="-78"/>
              </a:rPr>
              <a:t>مایع داخل سلولی پتاسیم و فسفر </a:t>
            </a:r>
            <a:r>
              <a:rPr lang="fa-IR" b="1" dirty="0" smtClean="0">
                <a:cs typeface="B Nazanin" panose="00000400000000000000" pitchFamily="2" charset="-78"/>
              </a:rPr>
              <a:t>هستند</a:t>
            </a:r>
          </a:p>
          <a:p>
            <a:r>
              <a:rPr lang="fa-IR" b="1" dirty="0" smtClean="0">
                <a:cs typeface="B Nazanin" panose="00000400000000000000" pitchFamily="2" charset="-78"/>
              </a:rPr>
              <a:t>غلظت پتاسیم در مایع خارج سلولی کم است و تغییرات زیاد آن قابل تحمل نیست و باعث بروز آریتمی قلبی می شود</a:t>
            </a:r>
          </a:p>
          <a:p>
            <a:r>
              <a:rPr lang="fa-IR" b="1" dirty="0" smtClean="0">
                <a:cs typeface="B Nazanin" panose="00000400000000000000" pitchFamily="2" charset="-78"/>
              </a:rPr>
              <a:t>هر وقت سلولهای بدن در اثر تروما یا سوختگی دچار آسیب بشوند پتاسیم آنها به بیرون ریخته و می تواند خطرناک باشد</a:t>
            </a:r>
          </a:p>
          <a:p>
            <a:r>
              <a:rPr lang="fa-IR" b="1" dirty="0" smtClean="0">
                <a:cs typeface="B Nazanin" panose="00000400000000000000" pitchFamily="2" charset="-78"/>
              </a:rPr>
              <a:t>بدن انرژی زیادی را صرف بالا نگه داشتن سدیم خارج سلولی و پتاسیم داخل سلولی می کند.این کار توسط پمپ سدیم پتاسیم در غشا ها صورت می گیرد</a:t>
            </a:r>
            <a:endParaRPr lang="fa-IR" b="1" dirty="0">
              <a:cs typeface="B Nazanin" panose="00000400000000000000" pitchFamily="2" charset="-78"/>
            </a:endParaRPr>
          </a:p>
        </p:txBody>
      </p:sp>
    </p:spTree>
    <p:extLst>
      <p:ext uri="{BB962C8B-B14F-4D97-AF65-F5344CB8AC3E}">
        <p14:creationId xmlns:p14="http://schemas.microsoft.com/office/powerpoint/2010/main" val="29805179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003" y="94593"/>
            <a:ext cx="11713113" cy="7083973"/>
          </a:xfrm>
        </p:spPr>
      </p:pic>
    </p:spTree>
    <p:extLst>
      <p:ext uri="{BB962C8B-B14F-4D97-AF65-F5344CB8AC3E}">
        <p14:creationId xmlns:p14="http://schemas.microsoft.com/office/powerpoint/2010/main" val="17737411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اسموز و اسمولالیتی</a:t>
            </a:r>
            <a:endParaRPr lang="fa-IR" dirty="0"/>
          </a:p>
        </p:txBody>
      </p:sp>
      <p:sp>
        <p:nvSpPr>
          <p:cNvPr id="3" name="Content Placeholder 2"/>
          <p:cNvSpPr>
            <a:spLocks noGrp="1"/>
          </p:cNvSpPr>
          <p:nvPr>
            <p:ph idx="1"/>
          </p:nvPr>
        </p:nvSpPr>
        <p:spPr/>
        <p:txBody>
          <a:bodyPr>
            <a:normAutofit/>
          </a:bodyPr>
          <a:lstStyle/>
          <a:p>
            <a:r>
              <a:rPr lang="fa-IR" b="1" dirty="0" smtClean="0">
                <a:cs typeface="B Nazanin" panose="00000400000000000000" pitchFamily="2" charset="-78"/>
              </a:rPr>
              <a:t>وقتی دو محلول مختلف توسط یک غشا که نسبت به مواد حل شده نفوذناپذیر است از هم جدا می شوند مایع از طریق این غشا از ناحیه با غلظت کمتر به ناحیه با غلظت بیشتر منتقل می شود تا غلظت در دو سوی غشا برابر شود به این عمل اسمز می گویند</a:t>
            </a:r>
          </a:p>
          <a:p>
            <a:endParaRPr lang="fa-IR" b="1" dirty="0" smtClean="0">
              <a:cs typeface="B Nazanin" panose="00000400000000000000" pitchFamily="2" charset="-78"/>
            </a:endParaRPr>
          </a:p>
          <a:p>
            <a:r>
              <a:rPr lang="fa-IR" b="1" dirty="0" smtClean="0">
                <a:cs typeface="B Nazanin" panose="00000400000000000000" pitchFamily="2" charset="-78"/>
              </a:rPr>
              <a:t>سدیم و مانیتول و گلوکز وسوربیتول اسمولهای موثردر بدن هستند</a:t>
            </a:r>
          </a:p>
        </p:txBody>
      </p:sp>
    </p:spTree>
    <p:extLst>
      <p:ext uri="{BB962C8B-B14F-4D97-AF65-F5344CB8AC3E}">
        <p14:creationId xmlns:p14="http://schemas.microsoft.com/office/powerpoint/2010/main" val="33921799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sp>
        <p:nvSpPr>
          <p:cNvPr id="3" name="Content Placeholder 2"/>
          <p:cNvSpPr>
            <a:spLocks noGrp="1"/>
          </p:cNvSpPr>
          <p:nvPr>
            <p:ph idx="1"/>
          </p:nvPr>
        </p:nvSpPr>
        <p:spPr/>
        <p:txBody>
          <a:bodyPr/>
          <a:lstStyle/>
          <a:p>
            <a:r>
              <a:rPr lang="fa-IR" b="1" dirty="0">
                <a:cs typeface="B Nazanin" panose="00000400000000000000" pitchFamily="2" charset="-78"/>
              </a:rPr>
              <a:t>فشار اسموتیک:مقدار فشار هیدروستاتیک مورد نیاز برای متوقف کردن جریان آب توسط اسمز است.میزان آن توسط </a:t>
            </a:r>
            <a:r>
              <a:rPr lang="fa-IR" b="1" dirty="0" smtClean="0">
                <a:cs typeface="B Nazanin" panose="00000400000000000000" pitchFamily="2" charset="-78"/>
              </a:rPr>
              <a:t>غلظت مواد </a:t>
            </a:r>
            <a:r>
              <a:rPr lang="fa-IR" b="1" dirty="0">
                <a:cs typeface="B Nazanin" panose="00000400000000000000" pitchFamily="2" charset="-78"/>
              </a:rPr>
              <a:t>حل شونده تعیین می شود</a:t>
            </a:r>
          </a:p>
          <a:p>
            <a:r>
              <a:rPr lang="fa-IR" b="1" dirty="0">
                <a:cs typeface="B Nazanin" panose="00000400000000000000" pitchFamily="2" charset="-78"/>
              </a:rPr>
              <a:t>فشار انکوتیک:فشار اسموتیکی که توسط </a:t>
            </a:r>
            <a:r>
              <a:rPr lang="fa-IR" b="1" dirty="0" smtClean="0">
                <a:cs typeface="B Nazanin" panose="00000400000000000000" pitchFamily="2" charset="-78"/>
              </a:rPr>
              <a:t>پروتئینهایی </a:t>
            </a:r>
            <a:r>
              <a:rPr lang="fa-IR" b="1" dirty="0">
                <a:cs typeface="B Nazanin" panose="00000400000000000000" pitchFamily="2" charset="-78"/>
              </a:rPr>
              <a:t>مثل آلبومین اعمال می شود</a:t>
            </a:r>
          </a:p>
          <a:p>
            <a:r>
              <a:rPr lang="fa-IR" b="1" dirty="0">
                <a:cs typeface="B Nazanin" panose="00000400000000000000" pitchFamily="2" charset="-78"/>
              </a:rPr>
              <a:t>دیورز اسموتیک: افزایش برون ده ادراری بدنبال ترشح موادی مثل گلوکز </a:t>
            </a:r>
            <a:r>
              <a:rPr lang="fa-IR" b="1" dirty="0" smtClean="0">
                <a:cs typeface="B Nazanin" panose="00000400000000000000" pitchFamily="2" charset="-78"/>
              </a:rPr>
              <a:t>و مانیتول  و یا </a:t>
            </a:r>
            <a:r>
              <a:rPr lang="fa-IR" b="1" dirty="0">
                <a:cs typeface="B Nazanin" panose="00000400000000000000" pitchFamily="2" charset="-78"/>
              </a:rPr>
              <a:t>مواد حاجب در ادرار</a:t>
            </a:r>
          </a:p>
          <a:p>
            <a:endParaRPr lang="fa-IR" dirty="0"/>
          </a:p>
        </p:txBody>
      </p:sp>
    </p:spTree>
    <p:extLst>
      <p:ext uri="{BB962C8B-B14F-4D97-AF65-F5344CB8AC3E}">
        <p14:creationId xmlns:p14="http://schemas.microsoft.com/office/powerpoint/2010/main" val="1217956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انتشار</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تمایل طبیعی یک ماده برای حرکت از یک ناحیه با غلظت بیشتر به یک ناحیه با غلظت کمتر است</a:t>
            </a:r>
          </a:p>
          <a:p>
            <a:endParaRPr lang="fa-IR" b="1" dirty="0" smtClean="0">
              <a:cs typeface="B Nazanin" panose="00000400000000000000" pitchFamily="2" charset="-78"/>
            </a:endParaRPr>
          </a:p>
          <a:p>
            <a:r>
              <a:rPr lang="fa-IR" b="1" dirty="0" smtClean="0">
                <a:cs typeface="B Nazanin" panose="00000400000000000000" pitchFamily="2" charset="-78"/>
              </a:rPr>
              <a:t>تبادل اکسیژن و دی اکسید کربن بین آلوئول و خون و حرکت سدیم از خارج سلول به داخل سلول مثالهای از  انتشار هستند</a:t>
            </a:r>
            <a:endParaRPr lang="fa-IR" b="1" dirty="0">
              <a:cs typeface="B Nazanin" panose="00000400000000000000" pitchFamily="2" charset="-78"/>
            </a:endParaRPr>
          </a:p>
        </p:txBody>
      </p:sp>
    </p:spTree>
    <p:extLst>
      <p:ext uri="{BB962C8B-B14F-4D97-AF65-F5344CB8AC3E}">
        <p14:creationId xmlns:p14="http://schemas.microsoft.com/office/powerpoint/2010/main" val="6884851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1930400"/>
            <a:ext cx="9144000" cy="4927600"/>
          </a:xfrm>
        </p:spPr>
      </p:pic>
    </p:spTree>
    <p:extLst>
      <p:ext uri="{BB962C8B-B14F-4D97-AF65-F5344CB8AC3E}">
        <p14:creationId xmlns:p14="http://schemas.microsoft.com/office/powerpoint/2010/main" val="20854900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فیلتراسیون یا تصفیه</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فشار هیدروستاتیک(فشار ایجاد شده توسط مایع بر روی دیواره عروق)در مویرگها تمایل داردمایع را از فضای داخل عروق به فضای میان بافتی تصفیه کند که به آن فیلتراسیون می گویند</a:t>
            </a:r>
          </a:p>
          <a:p>
            <a:r>
              <a:rPr lang="fa-IR" b="1" dirty="0" smtClean="0">
                <a:cs typeface="B Nazanin" panose="00000400000000000000" pitchFamily="2" charset="-78"/>
              </a:rPr>
              <a:t>حرکت </a:t>
            </a:r>
            <a:r>
              <a:rPr lang="fa-IR" b="1" dirty="0" smtClean="0">
                <a:solidFill>
                  <a:srgbClr val="FF0000"/>
                </a:solidFill>
                <a:cs typeface="B Nazanin" panose="00000400000000000000" pitchFamily="2" charset="-78"/>
              </a:rPr>
              <a:t>آب و مواد حل شده در آن </a:t>
            </a:r>
            <a:r>
              <a:rPr lang="fa-IR" b="1" dirty="0" smtClean="0">
                <a:cs typeface="B Nazanin" panose="00000400000000000000" pitchFamily="2" charset="-78"/>
              </a:rPr>
              <a:t>از یک ناحیه با فشار هیدروستاتیک زیاد به یک ناحیه با فشار کم رخ می دهد</a:t>
            </a:r>
          </a:p>
          <a:p>
            <a:r>
              <a:rPr lang="fa-IR" b="1" dirty="0" smtClean="0">
                <a:cs typeface="B Nazanin" panose="00000400000000000000" pitchFamily="2" charset="-78"/>
              </a:rPr>
              <a:t>کلیه ها در هر روز 180 لیتر پلاسما را فیلتره می کنند</a:t>
            </a:r>
          </a:p>
          <a:p>
            <a:r>
              <a:rPr lang="fa-IR" b="1" dirty="0" smtClean="0">
                <a:cs typeface="B Nazanin" panose="00000400000000000000" pitchFamily="2" charset="-78"/>
              </a:rPr>
              <a:t>فیلتراسیون آب و الکترولیتها از بستر شریانی مویرگی به مایع میان بافتی در اثر فشار پمپاژ </a:t>
            </a:r>
            <a:r>
              <a:rPr lang="fa-IR" b="1" dirty="0" smtClean="0">
                <a:cs typeface="B Nazanin" panose="00000400000000000000" pitchFamily="2" charset="-78"/>
              </a:rPr>
              <a:t>قلب است</a:t>
            </a:r>
            <a:endParaRPr lang="fa-IR" b="1" dirty="0">
              <a:cs typeface="B Nazanin" panose="00000400000000000000" pitchFamily="2" charset="-78"/>
            </a:endParaRPr>
          </a:p>
        </p:txBody>
      </p:sp>
    </p:spTree>
    <p:extLst>
      <p:ext uri="{BB962C8B-B14F-4D97-AF65-F5344CB8AC3E}">
        <p14:creationId xmlns:p14="http://schemas.microsoft.com/office/powerpoint/2010/main" val="6179804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پمپ سدیم پتاسیم</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غلظت بالای سدیم در مایع خارج سلولی و پتاسیم در مایع داخل سلولی تمایل دارد که توسط انتشار جابجا شود و این کار نباید رخ دهد و برای کنترل این وضعیت سلولها با صرف انرژی زیاد سدیم و پتاسیم را توسط پمپ سدیم پتاسیم جابجا  می کنند</a:t>
            </a:r>
          </a:p>
          <a:p>
            <a:r>
              <a:rPr lang="fa-IR" b="1" dirty="0" smtClean="0">
                <a:cs typeface="B Nazanin" panose="00000400000000000000" pitchFamily="2" charset="-78"/>
              </a:rPr>
              <a:t>این عمل حرکت مواد از محیط با غلظت کم به محیط با غلظت زیاد(خلاف انتشار) با صرف انرژی زیاد صورت می گیرد که به آن انتقال فعال می گویند</a:t>
            </a:r>
            <a:endParaRPr lang="fa-IR" b="1" dirty="0">
              <a:cs typeface="B Nazanin" panose="00000400000000000000" pitchFamily="2" charset="-78"/>
            </a:endParaRPr>
          </a:p>
        </p:txBody>
      </p:sp>
    </p:spTree>
    <p:extLst>
      <p:ext uri="{BB962C8B-B14F-4D97-AF65-F5344CB8AC3E}">
        <p14:creationId xmlns:p14="http://schemas.microsoft.com/office/powerpoint/2010/main" val="15587032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a-IR" dirty="0" smtClean="0"/>
              <a:t>جذب و دفع مایع</a:t>
            </a:r>
            <a:endParaRPr lang="fa-IR" dirty="0"/>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آب والکترولیت از راه خوردن و نوشیدن وارد بدن می شود</a:t>
            </a:r>
          </a:p>
          <a:p>
            <a:r>
              <a:rPr lang="fa-IR" b="1" dirty="0" smtClean="0">
                <a:cs typeface="B Nazanin" panose="00000400000000000000" pitchFamily="2" charset="-78"/>
              </a:rPr>
              <a:t>متوسط جذب و دفع مایعات در بدن (</a:t>
            </a:r>
            <a:r>
              <a:rPr lang="en-US" b="1" dirty="0" smtClean="0">
                <a:cs typeface="B Nazanin" panose="00000400000000000000" pitchFamily="2" charset="-78"/>
              </a:rPr>
              <a:t>I &amp; O</a:t>
            </a:r>
            <a:r>
              <a:rPr lang="fa-IR" b="1" dirty="0" smtClean="0">
                <a:cs typeface="B Nazanin" panose="00000400000000000000" pitchFamily="2" charset="-78"/>
              </a:rPr>
              <a:t>)در روز برابر است</a:t>
            </a:r>
          </a:p>
          <a:p>
            <a:r>
              <a:rPr lang="fa-IR" b="1" dirty="0" smtClean="0">
                <a:cs typeface="B Nazanin" panose="00000400000000000000" pitchFamily="2" charset="-78"/>
              </a:rPr>
              <a:t>حجم معمول ادرار روزانه در بالغین 1تا 2 لیتر است</a:t>
            </a:r>
          </a:p>
          <a:p>
            <a:r>
              <a:rPr lang="fa-IR" b="1" dirty="0" smtClean="0">
                <a:cs typeface="B Nazanin" panose="00000400000000000000" pitchFamily="2" charset="-78"/>
              </a:rPr>
              <a:t>به عبارتی 1 میلی لیتر به ازاء هر کیلوگرم وزن بدن در ساعت است(</a:t>
            </a:r>
            <a:r>
              <a:rPr lang="en-US" b="1" dirty="0" smtClean="0">
                <a:cs typeface="B Nazanin" panose="00000400000000000000" pitchFamily="2" charset="-78"/>
              </a:rPr>
              <a:t>1ml/kg/h</a:t>
            </a:r>
            <a:r>
              <a:rPr lang="fa-IR" b="1" dirty="0" smtClean="0">
                <a:cs typeface="B Nazanin" panose="00000400000000000000" pitchFamily="2" charset="-78"/>
              </a:rPr>
              <a:t>)</a:t>
            </a:r>
          </a:p>
          <a:p>
            <a:r>
              <a:rPr lang="fa-IR" b="1" dirty="0" smtClean="0">
                <a:cs typeface="B Nazanin" panose="00000400000000000000" pitchFamily="2" charset="-78"/>
              </a:rPr>
              <a:t>ریه ها در حالت نرمال 300میلی لیتر مایع را در روز با تبخیر دفع می نمایند</a:t>
            </a:r>
          </a:p>
          <a:p>
            <a:r>
              <a:rPr lang="fa-IR" b="1" dirty="0" smtClean="0">
                <a:cs typeface="B Nazanin" panose="00000400000000000000" pitchFamily="2" charset="-78"/>
              </a:rPr>
              <a:t>که با افزایش تعداد و عمق تنفس و در شرایط هوای خشک این میزان افزایش می یابد</a:t>
            </a:r>
            <a:endParaRPr lang="fa-IR" b="1" dirty="0">
              <a:cs typeface="B Nazanin" panose="00000400000000000000" pitchFamily="2" charset="-78"/>
            </a:endParaRPr>
          </a:p>
        </p:txBody>
      </p:sp>
    </p:spTree>
    <p:extLst>
      <p:ext uri="{BB962C8B-B14F-4D97-AF65-F5344CB8AC3E}">
        <p14:creationId xmlns:p14="http://schemas.microsoft.com/office/powerpoint/2010/main" val="42217504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fa-IR"/>
          </a:p>
        </p:txBody>
      </p:sp>
      <p:sp>
        <p:nvSpPr>
          <p:cNvPr id="3" name="Content Placeholder 2"/>
          <p:cNvSpPr>
            <a:spLocks noGrp="1"/>
          </p:cNvSpPr>
          <p:nvPr>
            <p:ph idx="1"/>
          </p:nvPr>
        </p:nvSpPr>
        <p:spPr/>
        <p:txBody>
          <a:bodyPr/>
          <a:lstStyle/>
          <a:p>
            <a:r>
              <a:rPr lang="fa-IR" b="1" dirty="0" smtClean="0">
                <a:cs typeface="B Nazanin" panose="00000400000000000000" pitchFamily="2" charset="-78"/>
              </a:rPr>
              <a:t>با تعریق زیاد، آب و الکترولیتهایی مثل سدیم وکلر و پتاسیم از دست می رود</a:t>
            </a:r>
          </a:p>
          <a:p>
            <a:r>
              <a:rPr lang="fa-IR" b="1" dirty="0" smtClean="0">
                <a:cs typeface="B Nazanin" panose="00000400000000000000" pitchFamily="2" charset="-78"/>
              </a:rPr>
              <a:t>در صورت آسیب پوستی زیاد تبخیر زیاد خواهد بود مثل سوختگی</a:t>
            </a:r>
          </a:p>
          <a:p>
            <a:r>
              <a:rPr lang="fa-IR" b="1" dirty="0" smtClean="0">
                <a:cs typeface="B Nazanin" panose="00000400000000000000" pitchFamily="2" charset="-78"/>
              </a:rPr>
              <a:t>روزانه تقریبا 500میلی لیتر مایع از راه پوست بصورت نامحسوس از دست می رود</a:t>
            </a:r>
          </a:p>
          <a:p>
            <a:r>
              <a:rPr lang="fa-IR" b="1" dirty="0" smtClean="0">
                <a:cs typeface="B Nazanin" panose="00000400000000000000" pitchFamily="2" charset="-78"/>
              </a:rPr>
              <a:t>به تبخیر مایع از ریه (300 میلی) و پوست(500 میلی) ومجموعا 800 میلی لیتر، دفع نا محسوس مایع از بدن می گویند</a:t>
            </a:r>
          </a:p>
          <a:p>
            <a:r>
              <a:rPr lang="fa-IR" b="1" dirty="0" smtClean="0">
                <a:cs typeface="B Nazanin" panose="00000400000000000000" pitchFamily="2" charset="-78"/>
              </a:rPr>
              <a:t>مجرای معدی روده ای:روزانه حدود 200 میلی لیتر مایع از طریق مدفوع دفع می شود</a:t>
            </a:r>
            <a:endParaRPr lang="fa-IR" b="1" dirty="0">
              <a:cs typeface="B Nazanin" panose="00000400000000000000" pitchFamily="2" charset="-78"/>
            </a:endParaRPr>
          </a:p>
        </p:txBody>
      </p:sp>
    </p:spTree>
    <p:extLst>
      <p:ext uri="{BB962C8B-B14F-4D97-AF65-F5344CB8AC3E}">
        <p14:creationId xmlns:p14="http://schemas.microsoft.com/office/powerpoint/2010/main" val="40401879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679" y="-252249"/>
            <a:ext cx="8596668" cy="1320800"/>
          </a:xfrm>
        </p:spPr>
        <p:txBody>
          <a:bodyPr/>
          <a:lstStyle/>
          <a:p>
            <a:pPr algn="ctr"/>
            <a:endParaRPr lang="fa-IR"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841" y="1"/>
            <a:ext cx="9522373" cy="6768662"/>
          </a:xfrm>
        </p:spPr>
      </p:pic>
    </p:spTree>
    <p:extLst>
      <p:ext uri="{BB962C8B-B14F-4D97-AF65-F5344CB8AC3E}">
        <p14:creationId xmlns:p14="http://schemas.microsoft.com/office/powerpoint/2010/main" val="84071249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1195</TotalTime>
  <Words>1221</Words>
  <Application>Microsoft Office PowerPoint</Application>
  <PresentationFormat>Widescreen</PresentationFormat>
  <Paragraphs>86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B Nazanin</vt:lpstr>
      <vt:lpstr>Tahoma</vt:lpstr>
      <vt:lpstr>Trebuchet MS</vt:lpstr>
      <vt:lpstr>Wingdings 3</vt:lpstr>
      <vt:lpstr>Facet</vt:lpstr>
      <vt:lpstr>مایعات و الکترولیتها</vt:lpstr>
      <vt:lpstr>دسته بندی مایعات بدن</vt:lpstr>
      <vt:lpstr>فضای خارج سلولی</vt:lpstr>
      <vt:lpstr>PowerPoint Presentation</vt:lpstr>
      <vt:lpstr>مایع میان بافتی</vt:lpstr>
      <vt:lpstr>فضای سوم</vt:lpstr>
      <vt:lpstr>الکترولیت ها</vt:lpstr>
      <vt:lpstr>PowerPoint Presentation</vt:lpstr>
      <vt:lpstr>PowerPoint Presentation</vt:lpstr>
      <vt:lpstr>PowerPoint Presentation</vt:lpstr>
      <vt:lpstr>اسموز و اسمولالیتی</vt:lpstr>
      <vt:lpstr>PowerPoint Presentation</vt:lpstr>
      <vt:lpstr>انتشار</vt:lpstr>
      <vt:lpstr>PowerPoint Presentation</vt:lpstr>
      <vt:lpstr>فیلتراسیون یا تصفیه</vt:lpstr>
      <vt:lpstr>پمپ سدیم پتاسیم</vt:lpstr>
      <vt:lpstr>جذب و دفع مایع</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مایعات و الکترولیتها</dc:title>
  <dc:creator>Andisheh</dc:creator>
  <cp:lastModifiedBy>Andisheh</cp:lastModifiedBy>
  <cp:revision>183</cp:revision>
  <dcterms:created xsi:type="dcterms:W3CDTF">2022-10-29T20:37:20Z</dcterms:created>
  <dcterms:modified xsi:type="dcterms:W3CDTF">2026-10-03T18:41:03Z</dcterms:modified>
</cp:coreProperties>
</file>