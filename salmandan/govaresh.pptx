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1" autoAdjust="0"/>
    <p:restoredTop sz="94660"/>
  </p:normalViewPr>
  <p:slideViewPr>
    <p:cSldViewPr snapToGrid="0">
      <p:cViewPr varScale="1">
        <p:scale>
          <a:sx n="91" d="100"/>
          <a:sy n="91" d="100"/>
        </p:scale>
        <p:origin x="5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2ADA6-FCA1-47E5-903C-4AB5371966A3}" type="datetimeFigureOut">
              <a:rPr lang="fa-IR" smtClean="0"/>
              <a:t>04/21/1448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F28B-1CFC-455A-B755-421C765EDC8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957362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2ADA6-FCA1-47E5-903C-4AB5371966A3}" type="datetimeFigureOut">
              <a:rPr lang="fa-IR" smtClean="0"/>
              <a:t>04/21/1448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F28B-1CFC-455A-B755-421C765EDC8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86774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2ADA6-FCA1-47E5-903C-4AB5371966A3}" type="datetimeFigureOut">
              <a:rPr lang="fa-IR" smtClean="0"/>
              <a:t>04/21/1448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F28B-1CFC-455A-B755-421C765EDC8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909081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2ADA6-FCA1-47E5-903C-4AB5371966A3}" type="datetimeFigureOut">
              <a:rPr lang="fa-IR" smtClean="0"/>
              <a:t>04/21/1448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F28B-1CFC-455A-B755-421C765EDC8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022550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2ADA6-FCA1-47E5-903C-4AB5371966A3}" type="datetimeFigureOut">
              <a:rPr lang="fa-IR" smtClean="0"/>
              <a:t>04/21/1448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F28B-1CFC-455A-B755-421C765EDC8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07878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2ADA6-FCA1-47E5-903C-4AB5371966A3}" type="datetimeFigureOut">
              <a:rPr lang="fa-IR" smtClean="0"/>
              <a:t>04/21/1448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F28B-1CFC-455A-B755-421C765EDC8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656226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2ADA6-FCA1-47E5-903C-4AB5371966A3}" type="datetimeFigureOut">
              <a:rPr lang="fa-IR" smtClean="0"/>
              <a:t>04/21/1448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F28B-1CFC-455A-B755-421C765EDC8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042235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2ADA6-FCA1-47E5-903C-4AB5371966A3}" type="datetimeFigureOut">
              <a:rPr lang="fa-IR" smtClean="0"/>
              <a:t>04/21/1448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F28B-1CFC-455A-B755-421C765EDC8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466869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2ADA6-FCA1-47E5-903C-4AB5371966A3}" type="datetimeFigureOut">
              <a:rPr lang="fa-IR" smtClean="0"/>
              <a:t>04/21/1448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F28B-1CFC-455A-B755-421C765EDC8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494374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2ADA6-FCA1-47E5-903C-4AB5371966A3}" type="datetimeFigureOut">
              <a:rPr lang="fa-IR" smtClean="0"/>
              <a:t>04/21/1448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F28B-1CFC-455A-B755-421C765EDC8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03218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2ADA6-FCA1-47E5-903C-4AB5371966A3}" type="datetimeFigureOut">
              <a:rPr lang="fa-IR" smtClean="0"/>
              <a:t>04/21/1448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F28B-1CFC-455A-B755-421C765EDC8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81264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2ADA6-FCA1-47E5-903C-4AB5371966A3}" type="datetimeFigureOut">
              <a:rPr lang="fa-IR" smtClean="0"/>
              <a:t>04/21/1448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FF28B-1CFC-455A-B755-421C765EDC8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006642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 smtClean="0"/>
              <a:t>بسمه تعالی</a:t>
            </a:r>
            <a:endParaRPr lang="fa-I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a-IR" b="1" dirty="0" smtClean="0">
                <a:solidFill>
                  <a:srgbClr val="00B0F0"/>
                </a:solidFill>
              </a:rPr>
              <a:t>پرستاری بیماریهای گوارش</a:t>
            </a:r>
          </a:p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023812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اصطلاحات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r">
              <a:buNone/>
            </a:pPr>
            <a:r>
              <a:rPr lang="fa-IR" b="1" dirty="0" smtClean="0">
                <a:cs typeface="B Nazanin" panose="00000400000000000000" pitchFamily="2" charset="-78"/>
              </a:rPr>
              <a:t>:</a:t>
            </a:r>
            <a:r>
              <a:rPr lang="en-US" b="1" dirty="0"/>
              <a:t>Ingestion</a:t>
            </a:r>
          </a:p>
          <a:p>
            <a:pPr marL="0" indent="0" algn="r">
              <a:buNone/>
            </a:pPr>
            <a:r>
              <a:rPr lang="fa-IR" dirty="0"/>
              <a:t>مرحله ای از فرایند گوارش که در طی آن غذا از طریق دهان و مری وارد لوله گوارش می شود(خوردن).</a:t>
            </a:r>
          </a:p>
          <a:p>
            <a:pPr marL="0" indent="0" algn="r" rtl="1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en-US" b="1" dirty="0" smtClean="0">
                <a:cs typeface="B Nazanin" panose="00000400000000000000" pitchFamily="2" charset="-78"/>
              </a:rPr>
              <a:t>:Digestion</a:t>
            </a:r>
            <a:endParaRPr lang="en-US" b="1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dirty="0" smtClean="0">
                <a:cs typeface="B Nazanin" panose="00000400000000000000" pitchFamily="2" charset="-78"/>
              </a:rPr>
              <a:t>مرحله </a:t>
            </a:r>
            <a:r>
              <a:rPr lang="fa-IR" dirty="0">
                <a:cs typeface="B Nazanin" panose="00000400000000000000" pitchFamily="2" charset="-78"/>
              </a:rPr>
              <a:t>ای از فرایند گوارش که در طی آن آنزیمها و ترشحات گوارشی با غذای خورده شده مخلوط شده و پروتئینها و چربیها و قندها شکسته و به مولکولهای کوچکتری تجزیه می شوند</a:t>
            </a:r>
            <a:r>
              <a:rPr lang="fa-IR" dirty="0" smtClean="0">
                <a:cs typeface="B Nazanin" panose="00000400000000000000" pitchFamily="2" charset="-78"/>
              </a:rPr>
              <a:t>.</a:t>
            </a:r>
            <a:endParaRPr lang="en-US" b="1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endParaRPr lang="en-US" b="1" dirty="0" smtClean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en-US" b="1" dirty="0"/>
              <a:t> </a:t>
            </a:r>
            <a:r>
              <a:rPr lang="en-US" b="1" dirty="0" smtClean="0"/>
              <a:t>absorption</a:t>
            </a:r>
            <a:r>
              <a:rPr lang="fa-IR" b="1" dirty="0" smtClean="0">
                <a:cs typeface="B Nazanin" panose="00000400000000000000" pitchFamily="2" charset="-78"/>
              </a:rPr>
              <a:t>:</a:t>
            </a:r>
          </a:p>
          <a:p>
            <a:pPr marL="0" indent="0" algn="r" rtl="1">
              <a:buNone/>
            </a:pPr>
            <a:r>
              <a:rPr lang="fa-IR" dirty="0" smtClean="0">
                <a:cs typeface="B Nazanin" panose="00000400000000000000" pitchFamily="2" charset="-78"/>
              </a:rPr>
              <a:t>مرحله ای از فرایند گوارش که طی آن مولکولهای کوچک و ویتامینها و مواد معدنی از دیواره روده کوچک و بزرگ عبور کرده و وارد جریان خون می شوند.</a:t>
            </a:r>
          </a:p>
        </p:txBody>
      </p:sp>
    </p:spTree>
    <p:extLst>
      <p:ext uri="{BB962C8B-B14F-4D97-AF65-F5344CB8AC3E}">
        <p14:creationId xmlns:p14="http://schemas.microsoft.com/office/powerpoint/2010/main" val="2873145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b="1" dirty="0" smtClean="0"/>
              <a:t>Elimination</a:t>
            </a:r>
          </a:p>
          <a:p>
            <a:pPr marL="0" indent="0" algn="r">
              <a:buNone/>
            </a:pPr>
            <a:r>
              <a:rPr lang="fa-IR" dirty="0" smtClean="0"/>
              <a:t>مرحله ای از فرایند گوارش که پس از هضم و جذب اتفاق می افتد و در طی آن محصولات زاید از بدن تخلیه می شود.</a:t>
            </a:r>
          </a:p>
          <a:p>
            <a:pPr marL="0" indent="0" algn="r">
              <a:buNone/>
            </a:pPr>
            <a:endParaRPr lang="fa-IR" dirty="0" smtClean="0"/>
          </a:p>
          <a:p>
            <a:pPr marL="0" indent="0" algn="r">
              <a:buNone/>
            </a:pPr>
            <a:r>
              <a:rPr lang="en-US" b="1" dirty="0" smtClean="0"/>
              <a:t>Chime</a:t>
            </a:r>
          </a:p>
          <a:p>
            <a:pPr marL="0" indent="0" algn="r">
              <a:buNone/>
            </a:pPr>
            <a:r>
              <a:rPr lang="fa-IR" dirty="0" smtClean="0"/>
              <a:t>مخلوط غذا با بزاق و پتیالین(آمیلاز بزاق)که از دهان به طرف </a:t>
            </a:r>
            <a:r>
              <a:rPr lang="fa-IR" dirty="0"/>
              <a:t>مری </a:t>
            </a:r>
            <a:r>
              <a:rPr lang="fa-IR" dirty="0" smtClean="0"/>
              <a:t>و معده  حرکت میکند.</a:t>
            </a:r>
          </a:p>
        </p:txBody>
      </p:sp>
    </p:spTree>
    <p:extLst>
      <p:ext uri="{BB962C8B-B14F-4D97-AF65-F5344CB8AC3E}">
        <p14:creationId xmlns:p14="http://schemas.microsoft.com/office/powerpoint/2010/main" val="2455995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b="1" dirty="0" smtClean="0"/>
              <a:t>:</a:t>
            </a:r>
            <a:r>
              <a:rPr lang="en-US" b="1" dirty="0" err="1" smtClean="0"/>
              <a:t>Fibroscopy</a:t>
            </a:r>
            <a:endParaRPr lang="en-US" b="1" dirty="0"/>
          </a:p>
          <a:p>
            <a:pPr marL="0" indent="0" algn="r">
              <a:buNone/>
            </a:pPr>
            <a:r>
              <a:rPr lang="fa-IR" b="1" dirty="0" smtClean="0"/>
              <a:t>وارد </a:t>
            </a:r>
            <a:r>
              <a:rPr lang="fa-IR" b="1" dirty="0"/>
              <a:t>کردن لوله قابل ارتجاع و لامپ دار به دستگاه گوارش به </a:t>
            </a:r>
            <a:r>
              <a:rPr lang="fa-IR" b="1" dirty="0" smtClean="0"/>
              <a:t>منظورتشخیص </a:t>
            </a:r>
            <a:r>
              <a:rPr lang="fa-IR" b="1" dirty="0"/>
              <a:t>و یا درمان بیماریهای </a:t>
            </a:r>
            <a:r>
              <a:rPr lang="fa-IR" b="1" dirty="0" smtClean="0"/>
              <a:t>خاص(آندوسکوپی وکولونوسکوپی)</a:t>
            </a:r>
          </a:p>
          <a:p>
            <a:pPr marL="0" indent="0" algn="r">
              <a:buNone/>
            </a:pPr>
            <a:r>
              <a:rPr lang="en-US" b="1" dirty="0" smtClean="0"/>
              <a:t>   ( amylase )</a:t>
            </a:r>
            <a:r>
              <a:rPr lang="fa-IR" b="1" dirty="0" smtClean="0"/>
              <a:t> آنزیم هضم نشاسته  </a:t>
            </a:r>
          </a:p>
          <a:p>
            <a:pPr marL="0" indent="0" algn="r">
              <a:buNone/>
            </a:pPr>
            <a:r>
              <a:rPr lang="en-US" b="1" dirty="0" smtClean="0"/>
              <a:t>(lipase</a:t>
            </a:r>
            <a:r>
              <a:rPr lang="fa-IR" b="1" dirty="0" smtClean="0"/>
              <a:t>آنزیم </a:t>
            </a:r>
            <a:r>
              <a:rPr lang="fa-IR" b="1" dirty="0"/>
              <a:t>هضم </a:t>
            </a:r>
            <a:r>
              <a:rPr lang="fa-IR" b="1" dirty="0" smtClean="0"/>
              <a:t>چربی     (</a:t>
            </a:r>
            <a:endParaRPr lang="fa-IR" b="1" dirty="0"/>
          </a:p>
          <a:p>
            <a:pPr marL="0" indent="0" algn="r">
              <a:buNone/>
            </a:pPr>
            <a:r>
              <a:rPr lang="en-US" b="1" dirty="0" smtClean="0"/>
              <a:t>pepsin </a:t>
            </a:r>
            <a:r>
              <a:rPr lang="fa-IR" b="1" dirty="0"/>
              <a:t>آنزیم هضم </a:t>
            </a:r>
            <a:r>
              <a:rPr lang="fa-IR" b="1" dirty="0" smtClean="0"/>
              <a:t>پروتئین         </a:t>
            </a:r>
            <a:endParaRPr lang="fa-IR" b="1" dirty="0"/>
          </a:p>
          <a:p>
            <a:pPr marL="0" indent="0" algn="r">
              <a:buNone/>
            </a:pPr>
            <a:r>
              <a:rPr lang="en-US" b="1" dirty="0" smtClean="0"/>
              <a:t>Trypsin           </a:t>
            </a:r>
            <a:r>
              <a:rPr lang="fa-IR" b="1" dirty="0"/>
              <a:t>آنزیم هضم پروتئین</a:t>
            </a:r>
          </a:p>
          <a:p>
            <a:pPr marL="0" indent="0" algn="r">
              <a:buNone/>
            </a:pPr>
            <a:r>
              <a:rPr lang="en-US" b="1" dirty="0" smtClean="0"/>
              <a:t>Mouth</a:t>
            </a:r>
            <a:r>
              <a:rPr lang="fa-IR" b="1" dirty="0" smtClean="0"/>
              <a:t>دهان          </a:t>
            </a:r>
            <a:endParaRPr lang="en-US" b="1" dirty="0"/>
          </a:p>
          <a:p>
            <a:pPr marL="0" indent="0" algn="r">
              <a:buNone/>
            </a:pPr>
            <a:r>
              <a:rPr lang="fa-IR" b="1" dirty="0" smtClean="0"/>
              <a:t> </a:t>
            </a:r>
            <a:r>
              <a:rPr lang="en-US" b="1" dirty="0" smtClean="0"/>
              <a:t>esophagus    </a:t>
            </a:r>
            <a:r>
              <a:rPr lang="fa-IR" b="1" dirty="0" smtClean="0"/>
              <a:t> مری</a:t>
            </a:r>
          </a:p>
          <a:p>
            <a:pPr marL="0" indent="0" algn="r">
              <a:buNone/>
            </a:pPr>
            <a:r>
              <a:rPr lang="en-US" b="1" dirty="0" smtClean="0"/>
              <a:t>Stomach       </a:t>
            </a:r>
            <a:r>
              <a:rPr lang="fa-IR" b="1" dirty="0"/>
              <a:t>معده- </a:t>
            </a:r>
            <a:endParaRPr lang="en-US" b="1" dirty="0" smtClean="0"/>
          </a:p>
          <a:p>
            <a:pPr marL="0" indent="0" algn="r">
              <a:buNone/>
            </a:pPr>
            <a:r>
              <a:rPr lang="en-US" b="1" dirty="0" smtClean="0"/>
              <a:t>Small intestine  </a:t>
            </a:r>
            <a:r>
              <a:rPr lang="fa-IR" b="1" dirty="0" smtClean="0"/>
              <a:t>روده کوچک </a:t>
            </a:r>
            <a:r>
              <a:rPr lang="en-US" b="1" dirty="0" smtClean="0"/>
              <a:t> </a:t>
            </a:r>
          </a:p>
          <a:p>
            <a:pPr marL="0" indent="0" algn="r">
              <a:buNone/>
            </a:pPr>
            <a:r>
              <a:rPr lang="en-US" b="1" dirty="0" smtClean="0"/>
              <a:t>large </a:t>
            </a:r>
            <a:r>
              <a:rPr lang="en-US" b="1" dirty="0"/>
              <a:t>intestine </a:t>
            </a:r>
            <a:r>
              <a:rPr lang="fa-IR" b="1" dirty="0"/>
              <a:t>روده </a:t>
            </a:r>
            <a:r>
              <a:rPr lang="fa-IR" b="1" dirty="0" smtClean="0"/>
              <a:t>بزرگ  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60384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سیستم گوارش</a:t>
            </a:r>
            <a:br>
              <a:rPr lang="fa-IR" dirty="0">
                <a:cs typeface="B Nazanin" panose="00000400000000000000" pitchFamily="2" charset="-78"/>
              </a:rPr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9610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457200" lvl="1" indent="0" algn="just" rtl="1">
              <a:buNone/>
            </a:pP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fa-IR" b="1" dirty="0" smtClean="0">
                <a:cs typeface="B Nazanin" panose="00000400000000000000" pitchFamily="2" charset="-78"/>
              </a:rPr>
              <a:t>لوله </a:t>
            </a:r>
            <a:r>
              <a:rPr lang="fa-IR" b="1" dirty="0">
                <a:cs typeface="B Nazanin" panose="00000400000000000000" pitchFamily="2" charset="-78"/>
              </a:rPr>
              <a:t>پیوسته ای که از دهان شروع و به مقعد ختم می شود </a:t>
            </a:r>
            <a:r>
              <a:rPr lang="fa-IR" b="1" dirty="0" smtClean="0">
                <a:cs typeface="B Nazanin" panose="00000400000000000000" pitchFamily="2" charset="-78"/>
              </a:rPr>
              <a:t>و طول </a:t>
            </a:r>
            <a:r>
              <a:rPr lang="fa-IR" b="1" dirty="0">
                <a:cs typeface="B Nazanin" panose="00000400000000000000" pitchFamily="2" charset="-78"/>
              </a:rPr>
              <a:t>آن 700 تا 790 سانتی متر </a:t>
            </a:r>
            <a:r>
              <a:rPr lang="fa-IR" b="1" dirty="0" smtClean="0">
                <a:cs typeface="B Nazanin" panose="00000400000000000000" pitchFamily="2" charset="-78"/>
              </a:rPr>
              <a:t>است(7 </a:t>
            </a:r>
            <a:r>
              <a:rPr lang="fa-IR" b="1" dirty="0">
                <a:cs typeface="B Nazanin" panose="00000400000000000000" pitchFamily="2" charset="-78"/>
              </a:rPr>
              <a:t>تا 7.9 </a:t>
            </a:r>
            <a:r>
              <a:rPr lang="fa-IR" b="1" dirty="0" smtClean="0">
                <a:cs typeface="B Nazanin" panose="00000400000000000000" pitchFamily="2" charset="-78"/>
              </a:rPr>
              <a:t>متر)</a:t>
            </a:r>
            <a:endParaRPr lang="fa-IR" b="1" dirty="0">
              <a:cs typeface="B Nazanin" panose="00000400000000000000" pitchFamily="2" charset="-78"/>
            </a:endParaRPr>
          </a:p>
          <a:p>
            <a:pPr marL="457200" lvl="1" indent="0" algn="just" rtl="1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457200" lvl="1" indent="0" algn="just" rtl="1">
              <a:buNone/>
            </a:pPr>
            <a:r>
              <a:rPr lang="fa-IR" b="1" dirty="0" smtClean="0">
                <a:cs typeface="B Nazanin" panose="00000400000000000000" pitchFamily="2" charset="-78"/>
              </a:rPr>
              <a:t>1-خوردن</a:t>
            </a:r>
            <a:endParaRPr lang="fa-IR" b="1" dirty="0">
              <a:cs typeface="B Nazanin" panose="00000400000000000000" pitchFamily="2" charset="-78"/>
            </a:endParaRPr>
          </a:p>
          <a:p>
            <a:pPr marL="457200" lvl="1" indent="0" algn="just" rtl="1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457200" lvl="1" indent="0" algn="just" rtl="1">
              <a:buNone/>
            </a:pPr>
            <a:r>
              <a:rPr lang="fa-IR" b="1" dirty="0" smtClean="0">
                <a:cs typeface="B Nazanin" panose="00000400000000000000" pitchFamily="2" charset="-78"/>
              </a:rPr>
              <a:t>2-هضم</a:t>
            </a:r>
            <a:endParaRPr lang="fa-IR" b="1" dirty="0">
              <a:cs typeface="B Nazanin" panose="00000400000000000000" pitchFamily="2" charset="-78"/>
            </a:endParaRPr>
          </a:p>
          <a:p>
            <a:pPr marL="457200" lvl="1" indent="0" algn="just" rtl="1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457200" lvl="1" indent="0" algn="just" rtl="1">
              <a:buNone/>
            </a:pPr>
            <a:r>
              <a:rPr lang="fa-IR" b="1" dirty="0" smtClean="0">
                <a:cs typeface="B Nazanin" panose="00000400000000000000" pitchFamily="2" charset="-78"/>
              </a:rPr>
              <a:t>3-جذب </a:t>
            </a:r>
            <a:r>
              <a:rPr lang="fa-IR" b="1" dirty="0">
                <a:cs typeface="B Nazanin" panose="00000400000000000000" pitchFamily="2" charset="-78"/>
              </a:rPr>
              <a:t>مواد غذایی</a:t>
            </a:r>
          </a:p>
          <a:p>
            <a:pPr marL="457200" lvl="1" indent="0" algn="just" rtl="1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457200" lvl="1" indent="0" algn="just" rtl="1">
              <a:buNone/>
            </a:pPr>
            <a:r>
              <a:rPr lang="fa-IR" b="1" dirty="0" smtClean="0">
                <a:cs typeface="B Nazanin" panose="00000400000000000000" pitchFamily="2" charset="-78"/>
              </a:rPr>
              <a:t>4-دفع </a:t>
            </a:r>
            <a:r>
              <a:rPr lang="fa-IR" b="1" dirty="0">
                <a:cs typeface="B Nazanin" panose="00000400000000000000" pitchFamily="2" charset="-78"/>
              </a:rPr>
              <a:t>محصولات زاید جذب نشده</a:t>
            </a:r>
          </a:p>
          <a:p>
            <a:pPr marL="457200" lvl="1" indent="0" algn="just" rtl="1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457200" lvl="1" indent="0" algn="just" rtl="1">
              <a:buNone/>
            </a:pPr>
            <a:r>
              <a:rPr lang="fa-IR" b="1" dirty="0">
                <a:cs typeface="B Nazanin" panose="00000400000000000000" pitchFamily="2" charset="-78"/>
              </a:rPr>
              <a:t>ارگانهای فرعی </a:t>
            </a:r>
            <a:r>
              <a:rPr lang="fa-IR" b="1" dirty="0" smtClean="0">
                <a:cs typeface="B Nazanin" panose="00000400000000000000" pitchFamily="2" charset="-78"/>
              </a:rPr>
              <a:t>گوارش(کبد </a:t>
            </a:r>
            <a:r>
              <a:rPr lang="fa-IR" b="1" dirty="0">
                <a:cs typeface="B Nazanin" panose="00000400000000000000" pitchFamily="2" charset="-78"/>
              </a:rPr>
              <a:t>و کیسه صفرا </a:t>
            </a:r>
            <a:r>
              <a:rPr lang="fa-IR" b="1" dirty="0" smtClean="0">
                <a:cs typeface="B Nazanin" panose="00000400000000000000" pitchFamily="2" charset="-78"/>
              </a:rPr>
              <a:t>وپانکراس)(کمک </a:t>
            </a:r>
            <a:r>
              <a:rPr lang="fa-IR" b="1" dirty="0">
                <a:cs typeface="B Nazanin" panose="00000400000000000000" pitchFamily="2" charset="-78"/>
              </a:rPr>
              <a:t>به فرایند </a:t>
            </a:r>
            <a:r>
              <a:rPr lang="fa-IR" b="1" dirty="0" smtClean="0">
                <a:cs typeface="B Nazanin" panose="00000400000000000000" pitchFamily="2" charset="-78"/>
              </a:rPr>
              <a:t>هضم)از </a:t>
            </a:r>
            <a:r>
              <a:rPr lang="fa-IR" b="1" dirty="0">
                <a:cs typeface="B Nazanin" panose="00000400000000000000" pitchFamily="2" charset="-78"/>
              </a:rPr>
              <a:t>کانال گوارش محسوب</a:t>
            </a:r>
          </a:p>
          <a:p>
            <a:pPr marL="457200" lvl="1" indent="0" algn="just" rtl="1">
              <a:buNone/>
            </a:pPr>
            <a:r>
              <a:rPr lang="fa-IR" b="1" dirty="0">
                <a:cs typeface="B Nazanin" panose="00000400000000000000" pitchFamily="2" charset="-78"/>
              </a:rPr>
              <a:t>نمی </a:t>
            </a:r>
            <a:r>
              <a:rPr lang="fa-IR" b="1" dirty="0" smtClean="0">
                <a:cs typeface="B Nazanin" panose="00000400000000000000" pitchFamily="2" charset="-78"/>
              </a:rPr>
              <a:t>شوند.</a:t>
            </a:r>
            <a:endParaRPr lang="fa-IR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54618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Esophagus</a:t>
            </a:r>
            <a:r>
              <a:rPr lang="fa-IR" b="1" dirty="0" smtClean="0"/>
              <a:t>مری </a:t>
            </a:r>
            <a:endParaRPr lang="fa-IR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r" rtl="1">
              <a:buNone/>
            </a:pPr>
            <a:r>
              <a:rPr lang="fa-IR" b="1" dirty="0"/>
              <a:t>مری در مدیاستن وحفره توراسیک واقع </a:t>
            </a:r>
            <a:r>
              <a:rPr lang="fa-IR" b="1" dirty="0" smtClean="0"/>
              <a:t>شده است</a:t>
            </a:r>
          </a:p>
          <a:p>
            <a:pPr marL="0" indent="0" algn="r" rtl="1">
              <a:buNone/>
            </a:pPr>
            <a:endParaRPr lang="fa-IR" b="1" dirty="0" smtClean="0"/>
          </a:p>
          <a:p>
            <a:pPr marL="0" indent="0" algn="r" rtl="1">
              <a:buNone/>
            </a:pPr>
            <a:r>
              <a:rPr lang="fa-IR" b="1" dirty="0" smtClean="0"/>
              <a:t> سایر </a:t>
            </a:r>
            <a:r>
              <a:rPr lang="fa-IR" b="1" dirty="0"/>
              <a:t>قسمتهای لوله گوارش همه در </a:t>
            </a:r>
            <a:r>
              <a:rPr lang="fa-IR" b="1" dirty="0" smtClean="0"/>
              <a:t>حفره پریتوئن </a:t>
            </a:r>
            <a:r>
              <a:rPr lang="fa-IR" b="1" dirty="0"/>
              <a:t>واقع شده </a:t>
            </a:r>
            <a:r>
              <a:rPr lang="fa-IR" b="1" dirty="0" smtClean="0"/>
              <a:t>اند</a:t>
            </a:r>
          </a:p>
          <a:p>
            <a:pPr marL="0" indent="0" algn="r" rtl="1">
              <a:buNone/>
            </a:pPr>
            <a:endParaRPr lang="fa-IR" b="1" dirty="0" smtClean="0"/>
          </a:p>
          <a:p>
            <a:pPr marL="0" indent="0" algn="r" rtl="1">
              <a:buNone/>
            </a:pPr>
            <a:r>
              <a:rPr lang="fa-IR" b="1" dirty="0" smtClean="0"/>
              <a:t>در </a:t>
            </a:r>
            <a:r>
              <a:rPr lang="fa-IR" b="1" dirty="0"/>
              <a:t>قدام نخاع </a:t>
            </a:r>
            <a:r>
              <a:rPr lang="fa-IR" b="1" dirty="0" smtClean="0"/>
              <a:t>و خلف </a:t>
            </a:r>
            <a:r>
              <a:rPr lang="fa-IR" b="1" dirty="0"/>
              <a:t>نای و قلب واقع شده </a:t>
            </a:r>
            <a:r>
              <a:rPr lang="fa-IR" b="1" dirty="0" smtClean="0"/>
              <a:t>است</a:t>
            </a:r>
          </a:p>
          <a:p>
            <a:pPr marL="0" indent="0" algn="r" rtl="1">
              <a:buNone/>
            </a:pPr>
            <a:endParaRPr lang="fa-IR" b="1" dirty="0"/>
          </a:p>
          <a:p>
            <a:pPr marL="0" indent="0" algn="r" rtl="1">
              <a:buNone/>
            </a:pPr>
            <a:r>
              <a:rPr lang="fa-IR" b="1" dirty="0" smtClean="0"/>
              <a:t>قابلیت </a:t>
            </a:r>
            <a:r>
              <a:rPr lang="fa-IR" b="1" dirty="0"/>
              <a:t>کلاپس شدن و اتساع </a:t>
            </a:r>
            <a:r>
              <a:rPr lang="fa-IR" b="1" dirty="0" smtClean="0"/>
              <a:t>دارد</a:t>
            </a:r>
          </a:p>
          <a:p>
            <a:pPr marL="0" indent="0" algn="r" rtl="1">
              <a:buNone/>
            </a:pPr>
            <a:endParaRPr lang="fa-IR" b="1" dirty="0"/>
          </a:p>
          <a:p>
            <a:pPr marL="0" indent="0" algn="r" rtl="1">
              <a:buNone/>
            </a:pPr>
            <a:r>
              <a:rPr lang="fa-IR" b="1" dirty="0" smtClean="0"/>
              <a:t>25 </a:t>
            </a:r>
            <a:r>
              <a:rPr lang="fa-IR" b="1" dirty="0"/>
              <a:t>سانتی متر طول دارد</a:t>
            </a:r>
          </a:p>
        </p:txBody>
      </p:sp>
    </p:spTree>
    <p:extLst>
      <p:ext uri="{BB962C8B-B14F-4D97-AF65-F5344CB8AC3E}">
        <p14:creationId xmlns:p14="http://schemas.microsoft.com/office/powerpoint/2010/main" val="111245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معده</a:t>
            </a:r>
            <a:r>
              <a:rPr lang="en-US" dirty="0" smtClean="0"/>
              <a:t> stomach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b="1" dirty="0"/>
              <a:t>کیسه ای قابل اتساع که کیم وارد آن شده و هضم می شود</a:t>
            </a:r>
          </a:p>
          <a:p>
            <a:pPr algn="r" rtl="1"/>
            <a:endParaRPr lang="fa-IR" dirty="0"/>
          </a:p>
          <a:p>
            <a:pPr algn="r" rtl="1"/>
            <a:r>
              <a:rPr lang="fa-IR" b="1" dirty="0"/>
              <a:t>در قسمت فوقانی شکم در طرف چپ خط مرکزی دقیقا در زیر </a:t>
            </a:r>
            <a:r>
              <a:rPr lang="fa-IR" b="1" dirty="0" smtClean="0"/>
              <a:t>دیافراگم چپ </a:t>
            </a:r>
            <a:r>
              <a:rPr lang="fa-IR" b="1" dirty="0"/>
              <a:t>واقع شده </a:t>
            </a:r>
            <a:r>
              <a:rPr lang="fa-IR" b="1" dirty="0" smtClean="0"/>
              <a:t>است</a:t>
            </a:r>
            <a:endParaRPr lang="fa-IR" b="1" dirty="0"/>
          </a:p>
          <a:p>
            <a:pPr algn="r" rtl="1"/>
            <a:r>
              <a:rPr lang="fa-IR" b="1" dirty="0" smtClean="0"/>
              <a:t>گنجایش آن بطور متوسط، </a:t>
            </a:r>
            <a:r>
              <a:rPr lang="fa-IR" b="1" dirty="0"/>
              <a:t>1500 سی سی است</a:t>
            </a:r>
          </a:p>
          <a:p>
            <a:pPr algn="r" rtl="1"/>
            <a:r>
              <a:rPr lang="fa-IR" b="1" dirty="0" smtClean="0"/>
              <a:t>قسمت </a:t>
            </a:r>
            <a:r>
              <a:rPr lang="fa-IR" b="1" dirty="0"/>
              <a:t>ورودی معده </a:t>
            </a:r>
            <a:r>
              <a:rPr lang="fa-IR" b="1" dirty="0">
                <a:solidFill>
                  <a:srgbClr val="FF0000"/>
                </a:solidFill>
              </a:rPr>
              <a:t>اسفنکتر تحتانی مری یا اسفنکتر کاردیاک </a:t>
            </a:r>
            <a:r>
              <a:rPr lang="fa-IR" b="1" dirty="0" smtClean="0"/>
              <a:t>نامیده می </a:t>
            </a:r>
            <a:r>
              <a:rPr lang="fa-IR" b="1" dirty="0"/>
              <a:t>شود و در موقع انقباض ارتباط مری و معده را قطع می کند</a:t>
            </a:r>
          </a:p>
          <a:p>
            <a:pPr algn="r" rtl="1"/>
            <a:r>
              <a:rPr lang="fa-IR" b="1" dirty="0" smtClean="0"/>
              <a:t>معده </a:t>
            </a:r>
            <a:r>
              <a:rPr lang="fa-IR" b="1" dirty="0"/>
              <a:t>4 قسمت کاردیا و فوندوس و تنه و پیلور است</a:t>
            </a:r>
          </a:p>
          <a:p>
            <a:pPr algn="r" rtl="1"/>
            <a:r>
              <a:rPr lang="fa-IR" b="1" dirty="0" smtClean="0"/>
              <a:t>قسمت </a:t>
            </a:r>
            <a:r>
              <a:rPr lang="fa-IR" b="1" dirty="0"/>
              <a:t>انتهایی معده اسفنکتر پیلور است و ارتباط معده و روده </a:t>
            </a:r>
            <a:r>
              <a:rPr lang="fa-IR" b="1" dirty="0" smtClean="0"/>
              <a:t>را کنترل </a:t>
            </a:r>
            <a:r>
              <a:rPr lang="fa-IR" b="1" dirty="0"/>
              <a:t>می </a:t>
            </a:r>
            <a:r>
              <a:rPr lang="fa-IR" b="1" dirty="0" smtClean="0"/>
              <a:t>کند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560844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روده کوچک</a:t>
            </a:r>
            <a:br>
              <a:rPr lang="fa-IR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2600" b="1" dirty="0" smtClean="0">
                <a:cs typeface="B Nazanin" panose="00000400000000000000" pitchFamily="2" charset="-78"/>
              </a:rPr>
              <a:t>طویل </a:t>
            </a:r>
            <a:r>
              <a:rPr lang="fa-IR" sz="2600" b="1" dirty="0">
                <a:cs typeface="B Nazanin" panose="00000400000000000000" pitchFamily="2" charset="-78"/>
              </a:rPr>
              <a:t>ترین قسمت لوله </a:t>
            </a:r>
            <a:r>
              <a:rPr lang="fa-IR" sz="2600" b="1" dirty="0" smtClean="0">
                <a:cs typeface="B Nazanin" panose="00000400000000000000" pitchFamily="2" charset="-78"/>
              </a:rPr>
              <a:t>گوارش است</a:t>
            </a:r>
          </a:p>
          <a:p>
            <a:pPr algn="r" rtl="1"/>
            <a:r>
              <a:rPr lang="fa-IR" sz="2600" b="1" dirty="0" smtClean="0">
                <a:cs typeface="B Nazanin" panose="00000400000000000000" pitchFamily="2" charset="-78"/>
              </a:rPr>
              <a:t>2/3 </a:t>
            </a:r>
            <a:r>
              <a:rPr lang="fa-IR" sz="2600" b="1" dirty="0">
                <a:cs typeface="B Nazanin" panose="00000400000000000000" pitchFamily="2" charset="-78"/>
              </a:rPr>
              <a:t>کل </a:t>
            </a:r>
            <a:r>
              <a:rPr lang="fa-IR" sz="2600" b="1" dirty="0" smtClean="0">
                <a:cs typeface="B Nazanin" panose="00000400000000000000" pitchFamily="2" charset="-78"/>
              </a:rPr>
              <a:t>لوله است</a:t>
            </a:r>
            <a:endParaRPr lang="fa-IR" sz="2600" b="1" dirty="0">
              <a:cs typeface="B Nazanin" panose="00000400000000000000" pitchFamily="2" charset="-78"/>
            </a:endParaRPr>
          </a:p>
          <a:p>
            <a:pPr algn="r" rtl="1"/>
            <a:r>
              <a:rPr lang="fa-IR" sz="2600" b="1" dirty="0" smtClean="0">
                <a:cs typeface="B Nazanin" panose="00000400000000000000" pitchFamily="2" charset="-78"/>
              </a:rPr>
              <a:t>روی </a:t>
            </a:r>
            <a:r>
              <a:rPr lang="fa-IR" sz="2600" b="1" dirty="0">
                <a:cs typeface="B Nazanin" panose="00000400000000000000" pitchFamily="2" charset="-78"/>
              </a:rPr>
              <a:t>هم پیچ وخم </a:t>
            </a:r>
            <a:r>
              <a:rPr lang="fa-IR" sz="2600" b="1" dirty="0" smtClean="0">
                <a:cs typeface="B Nazanin" panose="00000400000000000000" pitchFamily="2" charset="-78"/>
              </a:rPr>
              <a:t>خورده و 7000 </a:t>
            </a:r>
            <a:r>
              <a:rPr lang="fa-IR" sz="2600" b="1" dirty="0">
                <a:cs typeface="B Nazanin" panose="00000400000000000000" pitchFamily="2" charset="-78"/>
              </a:rPr>
              <a:t>سانتیمتر سطح برای ترشح وجذب دارد</a:t>
            </a:r>
          </a:p>
          <a:p>
            <a:pPr algn="r" rtl="1"/>
            <a:r>
              <a:rPr lang="fa-IR" sz="2600" b="1" dirty="0" smtClean="0">
                <a:cs typeface="B Nazanin" panose="00000400000000000000" pitchFamily="2" charset="-78"/>
              </a:rPr>
              <a:t>3 </a:t>
            </a:r>
            <a:r>
              <a:rPr lang="fa-IR" sz="2600" b="1" dirty="0">
                <a:cs typeface="B Nazanin" panose="00000400000000000000" pitchFamily="2" charset="-78"/>
              </a:rPr>
              <a:t>قسمت دئودنوم </a:t>
            </a:r>
            <a:r>
              <a:rPr lang="fa-IR" sz="2600" b="1" dirty="0" smtClean="0">
                <a:cs typeface="B Nazanin" panose="00000400000000000000" pitchFamily="2" charset="-78"/>
              </a:rPr>
              <a:t>(ابتدایی) </a:t>
            </a:r>
            <a:r>
              <a:rPr lang="fa-IR" sz="2600" b="1" dirty="0">
                <a:cs typeface="B Nazanin" panose="00000400000000000000" pitchFamily="2" charset="-78"/>
              </a:rPr>
              <a:t>و ژژنوم </a:t>
            </a:r>
            <a:r>
              <a:rPr lang="fa-IR" sz="2600" b="1" dirty="0" smtClean="0">
                <a:cs typeface="B Nazanin" panose="00000400000000000000" pitchFamily="2" charset="-78"/>
              </a:rPr>
              <a:t>(میانی) </a:t>
            </a:r>
            <a:r>
              <a:rPr lang="fa-IR" sz="2600" b="1" dirty="0">
                <a:cs typeface="B Nazanin" panose="00000400000000000000" pitchFamily="2" charset="-78"/>
              </a:rPr>
              <a:t>و </a:t>
            </a:r>
            <a:r>
              <a:rPr lang="fa-IR" sz="2600" b="1" dirty="0" smtClean="0">
                <a:cs typeface="B Nazanin" panose="00000400000000000000" pitchFamily="2" charset="-78"/>
              </a:rPr>
              <a:t>ایلئوم(انتهایی ) </a:t>
            </a:r>
            <a:r>
              <a:rPr lang="fa-IR" sz="2600" b="1" dirty="0">
                <a:cs typeface="B Nazanin" panose="00000400000000000000" pitchFamily="2" charset="-78"/>
              </a:rPr>
              <a:t>است</a:t>
            </a:r>
          </a:p>
          <a:p>
            <a:pPr algn="r" rtl="1"/>
            <a:r>
              <a:rPr lang="en-US" sz="2600" dirty="0" smtClean="0">
                <a:cs typeface="B Nazanin" panose="00000400000000000000" pitchFamily="2" charset="-78"/>
              </a:rPr>
              <a:t>CBD</a:t>
            </a:r>
            <a:r>
              <a:rPr lang="fa-IR" sz="2600" dirty="0" smtClean="0">
                <a:cs typeface="B Nazanin" panose="00000400000000000000" pitchFamily="2" charset="-78"/>
              </a:rPr>
              <a:t>(</a:t>
            </a:r>
            <a:r>
              <a:rPr lang="en-US" sz="2600" dirty="0" smtClean="0">
                <a:cs typeface="B Nazanin" panose="00000400000000000000" pitchFamily="2" charset="-78"/>
              </a:rPr>
              <a:t>common biliary duct</a:t>
            </a:r>
            <a:r>
              <a:rPr lang="fa-IR" sz="2600" dirty="0" smtClean="0">
                <a:cs typeface="B Nazanin" panose="00000400000000000000" pitchFamily="2" charset="-78"/>
              </a:rPr>
              <a:t>)</a:t>
            </a:r>
            <a:r>
              <a:rPr lang="fa-IR" sz="2600" b="1" dirty="0" smtClean="0">
                <a:cs typeface="B Nazanin" panose="00000400000000000000" pitchFamily="2" charset="-78"/>
              </a:rPr>
              <a:t>که </a:t>
            </a:r>
            <a:r>
              <a:rPr lang="fa-IR" sz="2600" b="1" dirty="0">
                <a:cs typeface="B Nazanin" panose="00000400000000000000" pitchFamily="2" charset="-78"/>
              </a:rPr>
              <a:t>ترشحات کیسه صفرا </a:t>
            </a:r>
            <a:r>
              <a:rPr lang="fa-IR" sz="2600" b="1" dirty="0" smtClean="0">
                <a:cs typeface="B Nazanin" panose="00000400000000000000" pitchFamily="2" charset="-78"/>
              </a:rPr>
              <a:t>و پانکراس </a:t>
            </a:r>
            <a:r>
              <a:rPr lang="fa-IR" sz="2600" b="1" dirty="0">
                <a:cs typeface="B Nazanin" panose="00000400000000000000" pitchFamily="2" charset="-78"/>
              </a:rPr>
              <a:t>را دارد در محل آمپول واتر </a:t>
            </a:r>
            <a:r>
              <a:rPr lang="fa-IR" sz="2600" b="1" dirty="0" smtClean="0">
                <a:cs typeface="B Nazanin" panose="00000400000000000000" pitchFamily="2" charset="-78"/>
              </a:rPr>
              <a:t>به دئودنوم </a:t>
            </a:r>
            <a:r>
              <a:rPr lang="fa-IR" sz="2600" b="1" dirty="0">
                <a:cs typeface="B Nazanin" panose="00000400000000000000" pitchFamily="2" charset="-78"/>
              </a:rPr>
              <a:t>باز میشود</a:t>
            </a:r>
          </a:p>
          <a:p>
            <a:pPr algn="r" rtl="1"/>
            <a:r>
              <a:rPr lang="fa-IR" sz="2600" b="1" dirty="0" smtClean="0">
                <a:cs typeface="B Nazanin" panose="00000400000000000000" pitchFamily="2" charset="-78"/>
              </a:rPr>
              <a:t>سکوم </a:t>
            </a:r>
            <a:r>
              <a:rPr lang="fa-IR" sz="2600" b="1" dirty="0">
                <a:cs typeface="B Nazanin" panose="00000400000000000000" pitchFamily="2" charset="-78"/>
              </a:rPr>
              <a:t>محل اتصال روده کوچک </a:t>
            </a:r>
            <a:r>
              <a:rPr lang="fa-IR" sz="2600" b="1" dirty="0" smtClean="0">
                <a:cs typeface="B Nazanin" panose="00000400000000000000" pitchFamily="2" charset="-78"/>
              </a:rPr>
              <a:t>و بزرگ </a:t>
            </a:r>
            <a:r>
              <a:rPr lang="fa-IR" sz="2600" b="1" dirty="0">
                <a:cs typeface="B Nazanin" panose="00000400000000000000" pitchFamily="2" charset="-78"/>
              </a:rPr>
              <a:t>در قسمت راست تحتانی شکم </a:t>
            </a:r>
            <a:r>
              <a:rPr lang="fa-IR" sz="2600" b="1" dirty="0" smtClean="0">
                <a:cs typeface="B Nazanin" panose="00000400000000000000" pitchFamily="2" charset="-78"/>
              </a:rPr>
              <a:t>است(</a:t>
            </a:r>
            <a:r>
              <a:rPr lang="en-US" sz="2600" b="1" dirty="0" err="1" smtClean="0">
                <a:cs typeface="B Nazanin" panose="00000400000000000000" pitchFamily="2" charset="-78"/>
              </a:rPr>
              <a:t>ileu</a:t>
            </a:r>
            <a:r>
              <a:rPr lang="en-US" sz="2600" b="1" dirty="0" smtClean="0">
                <a:cs typeface="B Nazanin" panose="00000400000000000000" pitchFamily="2" charset="-78"/>
              </a:rPr>
              <a:t> </a:t>
            </a:r>
            <a:r>
              <a:rPr lang="en-US" sz="2600" b="1" dirty="0" err="1" smtClean="0">
                <a:cs typeface="B Nazanin" panose="00000400000000000000" pitchFamily="2" charset="-78"/>
              </a:rPr>
              <a:t>secal</a:t>
            </a:r>
            <a:r>
              <a:rPr lang="fa-IR" sz="2600" b="1" dirty="0" smtClean="0">
                <a:cs typeface="B Nazanin" panose="00000400000000000000" pitchFamily="2" charset="-78"/>
              </a:rPr>
              <a:t>)</a:t>
            </a:r>
            <a:endParaRPr lang="fa-IR" sz="2600" b="1" dirty="0">
              <a:cs typeface="B Nazanin" panose="00000400000000000000" pitchFamily="2" charset="-78"/>
            </a:endParaRPr>
          </a:p>
          <a:p>
            <a:pPr algn="r" rtl="1"/>
            <a:r>
              <a:rPr lang="fa-IR" sz="2600" b="1" dirty="0" smtClean="0">
                <a:cs typeface="B Nazanin" panose="00000400000000000000" pitchFamily="2" charset="-78"/>
              </a:rPr>
              <a:t>دریچه </a:t>
            </a:r>
            <a:r>
              <a:rPr lang="fa-IR" sz="2600" b="1" dirty="0">
                <a:cs typeface="B Nazanin" panose="00000400000000000000" pitchFamily="2" charset="-78"/>
              </a:rPr>
              <a:t>ایلئوسکال ورود محتویات روده کوچک به بزرگ را کنترل </a:t>
            </a:r>
            <a:r>
              <a:rPr lang="fa-IR" sz="2600" b="1" dirty="0" smtClean="0">
                <a:cs typeface="B Nazanin" panose="00000400000000000000" pitchFamily="2" charset="-78"/>
              </a:rPr>
              <a:t>و ازریفلاکس </a:t>
            </a:r>
            <a:r>
              <a:rPr lang="fa-IR" sz="2600" b="1" dirty="0">
                <a:cs typeface="B Nazanin" panose="00000400000000000000" pitchFamily="2" charset="-78"/>
              </a:rPr>
              <a:t>باکتریهای کولون به عقب جلوگیری می </a:t>
            </a:r>
            <a:r>
              <a:rPr lang="fa-IR" sz="2600" b="1" dirty="0" smtClean="0">
                <a:cs typeface="B Nazanin" panose="00000400000000000000" pitchFamily="2" charset="-78"/>
              </a:rPr>
              <a:t>کند.</a:t>
            </a:r>
            <a:endParaRPr lang="fa-IR" sz="26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09616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b="1" dirty="0"/>
              <a:t>روده </a:t>
            </a:r>
            <a:r>
              <a:rPr lang="fa-IR" b="1" dirty="0" smtClean="0"/>
              <a:t>بزرگ </a:t>
            </a:r>
            <a:r>
              <a:rPr lang="en-US" b="1" dirty="0" smtClean="0"/>
              <a:t> colon</a:t>
            </a:r>
            <a:r>
              <a:rPr lang="fa-IR" dirty="0"/>
              <a:t/>
            </a:r>
            <a:br>
              <a:rPr lang="fa-IR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fa-IR" sz="2400" b="1" dirty="0" smtClean="0">
                <a:cs typeface="B Nazanin" panose="00000400000000000000" pitchFamily="2" charset="-78"/>
              </a:rPr>
              <a:t>3 قسمت کولون بالا رونده </a:t>
            </a:r>
            <a:r>
              <a:rPr lang="fa-IR" sz="2400" b="1" dirty="0">
                <a:cs typeface="B Nazanin" panose="00000400000000000000" pitchFamily="2" charset="-78"/>
              </a:rPr>
              <a:t>در راست و عرضی از راست به چپ </a:t>
            </a:r>
            <a:r>
              <a:rPr lang="fa-IR" sz="2400" b="1" dirty="0" smtClean="0">
                <a:cs typeface="B Nazanin" panose="00000400000000000000" pitchFamily="2" charset="-78"/>
              </a:rPr>
              <a:t>و نزولی درطرف </a:t>
            </a:r>
            <a:r>
              <a:rPr lang="fa-IR" sz="2400" b="1" dirty="0">
                <a:cs typeface="B Nazanin" panose="00000400000000000000" pitchFamily="2" charset="-78"/>
              </a:rPr>
              <a:t>چپ </a:t>
            </a:r>
            <a:r>
              <a:rPr lang="fa-IR" sz="2400" b="1" dirty="0" smtClean="0">
                <a:cs typeface="B Nazanin" panose="00000400000000000000" pitchFamily="2" charset="-78"/>
              </a:rPr>
              <a:t>شکم</a:t>
            </a:r>
          </a:p>
          <a:p>
            <a:pPr marL="0" indent="0" algn="r">
              <a:buNone/>
            </a:pPr>
            <a:endParaRPr lang="fa-IR" sz="2400" b="1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2400" b="1" dirty="0" smtClean="0">
                <a:cs typeface="B Nazanin" panose="00000400000000000000" pitchFamily="2" charset="-78"/>
              </a:rPr>
              <a:t>قسمت </a:t>
            </a:r>
            <a:r>
              <a:rPr lang="fa-IR" sz="2400" b="1" dirty="0">
                <a:cs typeface="B Nazanin" panose="00000400000000000000" pitchFamily="2" charset="-78"/>
              </a:rPr>
              <a:t>انتهایی شامل کولون سیگموئید و رکتوم تا </a:t>
            </a:r>
            <a:r>
              <a:rPr lang="fa-IR" sz="2400" b="1" dirty="0" smtClean="0">
                <a:cs typeface="B Nazanin" panose="00000400000000000000" pitchFamily="2" charset="-78"/>
              </a:rPr>
              <a:t>مقعد است</a:t>
            </a:r>
          </a:p>
          <a:p>
            <a:pPr marL="0" indent="0" algn="r">
              <a:buNone/>
            </a:pPr>
            <a:endParaRPr lang="fa-IR" sz="2400" b="1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2400" b="1" dirty="0" smtClean="0">
                <a:cs typeface="B Nazanin" panose="00000400000000000000" pitchFamily="2" charset="-78"/>
              </a:rPr>
              <a:t>مقعد </a:t>
            </a:r>
            <a:r>
              <a:rPr lang="fa-IR" sz="2400" b="1" dirty="0">
                <a:cs typeface="B Nazanin" panose="00000400000000000000" pitchFamily="2" charset="-78"/>
              </a:rPr>
              <a:t>توسط شبکه ای از عضلات مخطط کنترل می شود</a:t>
            </a:r>
          </a:p>
          <a:p>
            <a:pPr marL="0" indent="0" algn="r">
              <a:buNone/>
            </a:pPr>
            <a:endParaRPr lang="fa-IR" sz="2400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2400" b="1" dirty="0">
                <a:cs typeface="B Nazanin" panose="00000400000000000000" pitchFamily="2" charset="-78"/>
              </a:rPr>
              <a:t>اسفنکتر خارجی مقعد و قسمت ابتدایی مری </a:t>
            </a:r>
            <a:r>
              <a:rPr lang="fa-IR" sz="2400" b="1" dirty="0" smtClean="0">
                <a:cs typeface="B Nazanin" panose="00000400000000000000" pitchFamily="2" charset="-78"/>
              </a:rPr>
              <a:t>(بلع) تحت کنترل </a:t>
            </a:r>
            <a:r>
              <a:rPr lang="fa-IR" sz="2400" b="1" dirty="0">
                <a:cs typeface="B Nazanin" panose="00000400000000000000" pitchFamily="2" charset="-78"/>
              </a:rPr>
              <a:t>ارادی هستند بقیه قسمتها کنترل ارادی </a:t>
            </a:r>
            <a:r>
              <a:rPr lang="fa-IR" sz="2400" b="1" dirty="0" smtClean="0">
                <a:cs typeface="B Nazanin" panose="00000400000000000000" pitchFamily="2" charset="-78"/>
              </a:rPr>
              <a:t>ندارند.</a:t>
            </a:r>
            <a:endParaRPr lang="fa-IR" sz="24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82589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گردش خون دستگاه گوارش</a:t>
            </a:r>
            <a:br>
              <a:rPr lang="fa-IR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endParaRPr lang="fa-IR" sz="2400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2400" b="1" dirty="0">
                <a:solidFill>
                  <a:srgbClr val="FF0000"/>
                </a:solidFill>
                <a:cs typeface="B Nazanin" panose="00000400000000000000" pitchFamily="2" charset="-78"/>
              </a:rPr>
              <a:t>شریانهای گاستریک و مزانتریک فوقانی و </a:t>
            </a:r>
            <a:r>
              <a:rPr lang="fa-IR" sz="2400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مزانتریک تحتانی </a:t>
            </a:r>
            <a:r>
              <a:rPr lang="fa-IR" sz="2400" b="1" dirty="0">
                <a:cs typeface="B Nazanin" panose="00000400000000000000" pitchFamily="2" charset="-78"/>
              </a:rPr>
              <a:t>که از آئورت سینه ای و شکمی منشا گرفته </a:t>
            </a:r>
            <a:r>
              <a:rPr lang="fa-IR" sz="2400" b="1" dirty="0" smtClean="0">
                <a:cs typeface="B Nazanin" panose="00000400000000000000" pitchFamily="2" charset="-78"/>
              </a:rPr>
              <a:t>اند</a:t>
            </a:r>
            <a:r>
              <a:rPr lang="fa-IR" sz="2400" b="1" dirty="0">
                <a:cs typeface="B Nazanin" panose="00000400000000000000" pitchFamily="2" charset="-78"/>
              </a:rPr>
              <a:t> </a:t>
            </a:r>
            <a:r>
              <a:rPr lang="fa-IR" sz="2400" b="1" dirty="0" smtClean="0">
                <a:cs typeface="B Nazanin" panose="00000400000000000000" pitchFamily="2" charset="-78"/>
              </a:rPr>
              <a:t>خونرسانی </a:t>
            </a:r>
            <a:r>
              <a:rPr lang="fa-IR" sz="2400" b="1" dirty="0">
                <a:cs typeface="B Nazanin" panose="00000400000000000000" pitchFamily="2" charset="-78"/>
              </a:rPr>
              <a:t>معده و روده را تامین می کنند</a:t>
            </a:r>
          </a:p>
          <a:p>
            <a:pPr marL="0" indent="0" algn="r">
              <a:buNone/>
            </a:pPr>
            <a:endParaRPr lang="fa-IR" sz="2400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2400" b="1" dirty="0">
                <a:solidFill>
                  <a:schemeClr val="accent1">
                    <a:lumMod val="50000"/>
                  </a:schemeClr>
                </a:solidFill>
                <a:cs typeface="B Nazanin" panose="00000400000000000000" pitchFamily="2" charset="-78"/>
              </a:rPr>
              <a:t>خون وریدی </a:t>
            </a:r>
            <a:r>
              <a:rPr lang="fa-IR" sz="2400" b="1" dirty="0">
                <a:cs typeface="B Nazanin" panose="00000400000000000000" pitchFamily="2" charset="-78"/>
              </a:rPr>
              <a:t>این ارگانها همراه با سایر وریدهای شکم </a:t>
            </a:r>
            <a:r>
              <a:rPr lang="fa-IR" sz="2400" b="1" dirty="0" smtClean="0">
                <a:cs typeface="B Nazanin" panose="00000400000000000000" pitchFamily="2" charset="-78"/>
              </a:rPr>
              <a:t>جمع شده </a:t>
            </a:r>
            <a:r>
              <a:rPr lang="fa-IR" sz="2400" b="1" dirty="0">
                <a:cs typeface="B Nazanin" panose="00000400000000000000" pitchFamily="2" charset="-78"/>
              </a:rPr>
              <a:t>و </a:t>
            </a:r>
            <a:r>
              <a:rPr lang="fa-IR" sz="2400" b="1" dirty="0">
                <a:solidFill>
                  <a:schemeClr val="accent1">
                    <a:lumMod val="50000"/>
                  </a:schemeClr>
                </a:solidFill>
                <a:cs typeface="B Nazanin" panose="00000400000000000000" pitchFamily="2" charset="-78"/>
              </a:rPr>
              <a:t>ورید بزرگ باب یا پورت </a:t>
            </a:r>
            <a:r>
              <a:rPr lang="fa-IR" sz="2400" b="1" dirty="0">
                <a:cs typeface="B Nazanin" panose="00000400000000000000" pitchFamily="2" charset="-78"/>
              </a:rPr>
              <a:t>را تشکیل می دهند </a:t>
            </a:r>
            <a:r>
              <a:rPr lang="fa-IR" sz="2400" b="1" dirty="0" smtClean="0">
                <a:cs typeface="B Nazanin" panose="00000400000000000000" pitchFamily="2" charset="-78"/>
              </a:rPr>
              <a:t>که غنی </a:t>
            </a:r>
            <a:r>
              <a:rPr lang="fa-IR" sz="2400" b="1" dirty="0">
                <a:cs typeface="B Nazanin" panose="00000400000000000000" pitchFamily="2" charset="-78"/>
              </a:rPr>
              <a:t>از مواد غذایی است و وارد کبد می </a:t>
            </a:r>
            <a:r>
              <a:rPr lang="fa-IR" sz="2400" b="1" dirty="0" smtClean="0">
                <a:cs typeface="B Nazanin" panose="00000400000000000000" pitchFamily="2" charset="-78"/>
              </a:rPr>
              <a:t>شود</a:t>
            </a:r>
            <a:endParaRPr lang="fa-IR" sz="2400" b="1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endParaRPr lang="fa-IR" sz="2400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2400" b="1" dirty="0">
                <a:cs typeface="B Nazanin" panose="00000400000000000000" pitchFamily="2" charset="-78"/>
              </a:rPr>
              <a:t>لوله گوارش 20 درصد برون ده قلبی را به خود </a:t>
            </a:r>
            <a:r>
              <a:rPr lang="fa-IR" sz="2400" b="1" dirty="0" smtClean="0">
                <a:cs typeface="B Nazanin" panose="00000400000000000000" pitchFamily="2" charset="-78"/>
              </a:rPr>
              <a:t>اختصاص میدهد </a:t>
            </a:r>
            <a:r>
              <a:rPr lang="fa-IR" sz="2400" b="1" dirty="0">
                <a:cs typeface="B Nazanin" panose="00000400000000000000" pitchFamily="2" charset="-78"/>
              </a:rPr>
              <a:t>که بعد از خوردن غذا زیاد هم </a:t>
            </a:r>
            <a:r>
              <a:rPr lang="fa-IR" sz="2400" b="1" dirty="0" smtClean="0">
                <a:cs typeface="B Nazanin" panose="00000400000000000000" pitchFamily="2" charset="-78"/>
              </a:rPr>
              <a:t>میشود.</a:t>
            </a:r>
            <a:endParaRPr lang="fa-IR" sz="24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82793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4414" y="483476"/>
            <a:ext cx="7399283" cy="637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583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b="1" dirty="0"/>
              <a:t>عصب دهی لوله گوارش</a:t>
            </a:r>
            <a:r>
              <a:rPr lang="fa-IR" dirty="0"/>
              <a:t/>
            </a:r>
            <a:br>
              <a:rPr lang="fa-IR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fa-IR" sz="2400" b="1" dirty="0" smtClean="0">
                <a:solidFill>
                  <a:srgbClr val="00B0F0"/>
                </a:solidFill>
                <a:cs typeface="B Nazanin" panose="00000400000000000000" pitchFamily="2" charset="-78"/>
              </a:rPr>
              <a:t>اعصاب </a:t>
            </a:r>
            <a:r>
              <a:rPr lang="fa-IR" sz="2400" b="1" dirty="0">
                <a:solidFill>
                  <a:srgbClr val="00B0F0"/>
                </a:solidFill>
                <a:cs typeface="B Nazanin" panose="00000400000000000000" pitchFamily="2" charset="-78"/>
              </a:rPr>
              <a:t>سمپاتیک:</a:t>
            </a:r>
          </a:p>
          <a:p>
            <a:pPr marL="0" indent="0" algn="r">
              <a:buNone/>
            </a:pPr>
            <a:r>
              <a:rPr lang="fa-IR" sz="2400" b="1" dirty="0">
                <a:cs typeface="B Nazanin" panose="00000400000000000000" pitchFamily="2" charset="-78"/>
              </a:rPr>
              <a:t>اثر مهاری روی لوله گوارش دارند </a:t>
            </a:r>
            <a:r>
              <a:rPr lang="fa-IR" sz="2400" b="1" dirty="0" smtClean="0">
                <a:cs typeface="B Nazanin" panose="00000400000000000000" pitchFamily="2" charset="-78"/>
              </a:rPr>
              <a:t>(کاهش </a:t>
            </a:r>
            <a:r>
              <a:rPr lang="fa-IR" sz="2400" b="1" dirty="0">
                <a:cs typeface="B Nazanin" panose="00000400000000000000" pitchFamily="2" charset="-78"/>
              </a:rPr>
              <a:t>ترشحات معده-کاهش حرکات دودی </a:t>
            </a:r>
            <a:r>
              <a:rPr lang="fa-IR" sz="2400" b="1" dirty="0" smtClean="0">
                <a:cs typeface="B Nazanin" panose="00000400000000000000" pitchFamily="2" charset="-78"/>
              </a:rPr>
              <a:t>-</a:t>
            </a:r>
            <a:r>
              <a:rPr lang="fa-IR" sz="2400" b="1" dirty="0">
                <a:cs typeface="B Nazanin" panose="00000400000000000000" pitchFamily="2" charset="-78"/>
              </a:rPr>
              <a:t>ا</a:t>
            </a:r>
            <a:r>
              <a:rPr lang="fa-IR" sz="2400" b="1" dirty="0" smtClean="0">
                <a:cs typeface="B Nazanin" panose="00000400000000000000" pitchFamily="2" charset="-78"/>
              </a:rPr>
              <a:t>نقباض </a:t>
            </a:r>
            <a:r>
              <a:rPr lang="fa-IR" sz="2400" b="1" dirty="0">
                <a:cs typeface="B Nazanin" panose="00000400000000000000" pitchFamily="2" charset="-78"/>
              </a:rPr>
              <a:t>عروق خونی و </a:t>
            </a:r>
            <a:r>
              <a:rPr lang="fa-IR" sz="2400" b="1" dirty="0" smtClean="0">
                <a:cs typeface="B Nazanin" panose="00000400000000000000" pitchFamily="2" charset="-78"/>
              </a:rPr>
              <a:t>اسفنکترها)</a:t>
            </a:r>
          </a:p>
          <a:p>
            <a:pPr marL="0" indent="0" algn="r">
              <a:buNone/>
            </a:pPr>
            <a:endParaRPr lang="fa-IR" sz="2400" b="1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2400" b="1" dirty="0">
                <a:solidFill>
                  <a:srgbClr val="00B0F0"/>
                </a:solidFill>
                <a:cs typeface="B Nazanin" panose="00000400000000000000" pitchFamily="2" charset="-78"/>
              </a:rPr>
              <a:t>اعصاب پاراسمپاتیک</a:t>
            </a:r>
            <a:r>
              <a:rPr lang="fa-IR" sz="2400" b="1" dirty="0" smtClean="0">
                <a:solidFill>
                  <a:srgbClr val="00B0F0"/>
                </a:solidFill>
                <a:cs typeface="B Nazanin" panose="00000400000000000000" pitchFamily="2" charset="-78"/>
              </a:rPr>
              <a:t>:</a:t>
            </a:r>
          </a:p>
          <a:p>
            <a:pPr marL="0" indent="0" algn="r">
              <a:buNone/>
            </a:pPr>
            <a:r>
              <a:rPr lang="fa-IR" sz="2400" b="1" dirty="0" smtClean="0">
                <a:cs typeface="B Nazanin" panose="00000400000000000000" pitchFamily="2" charset="-78"/>
              </a:rPr>
              <a:t>اثر </a:t>
            </a:r>
            <a:r>
              <a:rPr lang="fa-IR" sz="2400" b="1" dirty="0">
                <a:cs typeface="B Nazanin" panose="00000400000000000000" pitchFamily="2" charset="-78"/>
              </a:rPr>
              <a:t>تحریکی روی گوارش </a:t>
            </a:r>
            <a:r>
              <a:rPr lang="fa-IR" sz="2400" b="1" dirty="0" smtClean="0">
                <a:cs typeface="B Nazanin" panose="00000400000000000000" pitchFamily="2" charset="-78"/>
              </a:rPr>
              <a:t>دارند(افزایش ترشحات-افزایش پریستالتیسم-ریلاکس </a:t>
            </a:r>
            <a:r>
              <a:rPr lang="fa-IR" sz="2400" b="1" dirty="0">
                <a:cs typeface="B Nazanin" panose="00000400000000000000" pitchFamily="2" charset="-78"/>
              </a:rPr>
              <a:t>شدن </a:t>
            </a:r>
            <a:r>
              <a:rPr lang="fa-IR" sz="2400" b="1" dirty="0" smtClean="0">
                <a:cs typeface="B Nazanin" panose="00000400000000000000" pitchFamily="2" charset="-78"/>
              </a:rPr>
              <a:t>اسفنکترها)</a:t>
            </a:r>
          </a:p>
          <a:p>
            <a:pPr marL="0" indent="0" algn="r">
              <a:buNone/>
            </a:pPr>
            <a:endParaRPr lang="fa-IR" sz="2400" b="1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2400" b="1" dirty="0">
                <a:cs typeface="B Nazanin" panose="00000400000000000000" pitchFamily="2" charset="-78"/>
              </a:rPr>
              <a:t>قسمت فوقانی مری و اسفنکتر خارجی مقعد تحت کنترل اعصاب خودکار نیستند </a:t>
            </a:r>
            <a:r>
              <a:rPr lang="fa-IR" sz="2400" b="1" dirty="0" smtClean="0">
                <a:cs typeface="B Nazanin" panose="00000400000000000000" pitchFamily="2" charset="-78"/>
              </a:rPr>
              <a:t>و</a:t>
            </a:r>
            <a:r>
              <a:rPr lang="fa-IR" sz="2400" b="1" dirty="0">
                <a:cs typeface="B Nazanin" panose="00000400000000000000" pitchFamily="2" charset="-78"/>
              </a:rPr>
              <a:t> </a:t>
            </a:r>
            <a:r>
              <a:rPr lang="fa-IR" sz="2400" b="1" dirty="0" smtClean="0">
                <a:cs typeface="B Nazanin" panose="00000400000000000000" pitchFamily="2" charset="-78"/>
              </a:rPr>
              <a:t>ارادی هستند.</a:t>
            </a:r>
            <a:endParaRPr lang="fa-IR" sz="24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41092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solidFill>
                  <a:srgbClr val="92D050"/>
                </a:solidFill>
              </a:rPr>
              <a:t>عملکرد معده</a:t>
            </a:r>
            <a:r>
              <a:rPr lang="fa-IR" dirty="0"/>
              <a:t/>
            </a:r>
            <a:br>
              <a:rPr lang="fa-IR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fa-IR" sz="2000" b="1" dirty="0">
                <a:cs typeface="B Nazanin" panose="00000400000000000000" pitchFamily="2" charset="-78"/>
              </a:rPr>
              <a:t>1</a:t>
            </a:r>
            <a:r>
              <a:rPr lang="fa-IR" sz="2000" b="1" dirty="0" smtClean="0">
                <a:cs typeface="B Nazanin" panose="00000400000000000000" pitchFamily="2" charset="-78"/>
              </a:rPr>
              <a:t> </a:t>
            </a:r>
            <a:r>
              <a:rPr lang="fa-IR" sz="2000" b="1" dirty="0">
                <a:cs typeface="B Nazanin" panose="00000400000000000000" pitchFamily="2" charset="-78"/>
              </a:rPr>
              <a:t>-ذخیره غذای بلع </a:t>
            </a:r>
            <a:r>
              <a:rPr lang="fa-IR" sz="2000" b="1" dirty="0" smtClean="0">
                <a:cs typeface="B Nazanin" panose="00000400000000000000" pitchFamily="2" charset="-78"/>
              </a:rPr>
              <a:t>شده</a:t>
            </a:r>
          </a:p>
          <a:p>
            <a:pPr marL="0" indent="0" algn="r" rtl="1">
              <a:buNone/>
            </a:pPr>
            <a:r>
              <a:rPr lang="fa-IR" sz="2000" b="1" dirty="0" smtClean="0">
                <a:cs typeface="B Nazanin" panose="00000400000000000000" pitchFamily="2" charset="-78"/>
              </a:rPr>
              <a:t>2 </a:t>
            </a:r>
            <a:r>
              <a:rPr lang="fa-IR" sz="2000" b="1" dirty="0">
                <a:cs typeface="B Nazanin" panose="00000400000000000000" pitchFamily="2" charset="-78"/>
              </a:rPr>
              <a:t>-ترشح اسید </a:t>
            </a:r>
            <a:r>
              <a:rPr lang="fa-IR" sz="2000" b="1" dirty="0" smtClean="0">
                <a:cs typeface="B Nazanin" panose="00000400000000000000" pitchFamily="2" charset="-78"/>
              </a:rPr>
              <a:t>کلریدریک(ترشح </a:t>
            </a:r>
            <a:r>
              <a:rPr lang="fa-IR" sz="2000" b="1" dirty="0">
                <a:cs typeface="B Nazanin" panose="00000400000000000000" pitchFamily="2" charset="-78"/>
              </a:rPr>
              <a:t>2/4 لیتر </a:t>
            </a:r>
            <a:r>
              <a:rPr lang="fa-IR" sz="2000" b="1" dirty="0" smtClean="0">
                <a:cs typeface="B Nazanin" panose="00000400000000000000" pitchFamily="2" charset="-78"/>
              </a:rPr>
              <a:t>اسید با </a:t>
            </a:r>
            <a:r>
              <a:rPr lang="en-US" sz="2000" b="1" dirty="0" smtClean="0">
                <a:cs typeface="B Nazanin" panose="00000400000000000000" pitchFamily="2" charset="-78"/>
              </a:rPr>
              <a:t>PH </a:t>
            </a:r>
            <a:r>
              <a:rPr lang="fa-IR" sz="2000" b="1" dirty="0" smtClean="0">
                <a:cs typeface="B Nazanin" panose="00000400000000000000" pitchFamily="2" charset="-78"/>
              </a:rPr>
              <a:t>  1تا </a:t>
            </a:r>
            <a:r>
              <a:rPr lang="fa-IR" sz="2000" b="1" dirty="0">
                <a:cs typeface="B Nazanin" panose="00000400000000000000" pitchFamily="2" charset="-78"/>
              </a:rPr>
              <a:t>3 در 24 </a:t>
            </a:r>
            <a:r>
              <a:rPr lang="fa-IR" sz="2000" b="1" dirty="0" smtClean="0">
                <a:cs typeface="B Nazanin" panose="00000400000000000000" pitchFamily="2" charset="-78"/>
              </a:rPr>
              <a:t>ساعت) و آنزیم پپسین</a:t>
            </a:r>
            <a:endParaRPr lang="fa-IR" sz="2000" b="1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sz="2000" b="1" dirty="0">
                <a:cs typeface="B Nazanin" panose="00000400000000000000" pitchFamily="2" charset="-78"/>
              </a:rPr>
              <a:t>3 - مخلوط کردن مواد غذایی با اسید و </a:t>
            </a:r>
            <a:r>
              <a:rPr lang="fa-IR" sz="2000" b="1" dirty="0" smtClean="0">
                <a:cs typeface="B Nazanin" panose="00000400000000000000" pitchFamily="2" charset="-78"/>
              </a:rPr>
              <a:t>آنزیم</a:t>
            </a:r>
            <a:endParaRPr lang="fa-IR" sz="2000" b="1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sz="2000" b="1" dirty="0">
                <a:cs typeface="B Nazanin" panose="00000400000000000000" pitchFamily="2" charset="-78"/>
              </a:rPr>
              <a:t>4 -تجزیه غذا به شکل قابل </a:t>
            </a:r>
            <a:r>
              <a:rPr lang="fa-IR" sz="2000" b="1" dirty="0" smtClean="0">
                <a:cs typeface="B Nazanin" panose="00000400000000000000" pitchFamily="2" charset="-78"/>
              </a:rPr>
              <a:t>جذب</a:t>
            </a:r>
            <a:endParaRPr lang="fa-IR" sz="2000" b="1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sz="2000" b="1" dirty="0">
                <a:cs typeface="B Nazanin" panose="00000400000000000000" pitchFamily="2" charset="-78"/>
              </a:rPr>
              <a:t>5 -از بین بردن باکتریهای بلع </a:t>
            </a:r>
            <a:r>
              <a:rPr lang="fa-IR" sz="2000" b="1" dirty="0" smtClean="0">
                <a:cs typeface="B Nazanin" panose="00000400000000000000" pitchFamily="2" charset="-78"/>
              </a:rPr>
              <a:t>شده</a:t>
            </a:r>
          </a:p>
          <a:p>
            <a:pPr marL="0" indent="0" algn="r" rtl="1">
              <a:buNone/>
            </a:pPr>
            <a:r>
              <a:rPr lang="fa-IR" sz="2000" b="1" dirty="0">
                <a:cs typeface="B Nazanin" panose="00000400000000000000" pitchFamily="2" charset="-78"/>
              </a:rPr>
              <a:t>6</a:t>
            </a:r>
            <a:r>
              <a:rPr lang="fa-IR" sz="2000" b="1" dirty="0" smtClean="0">
                <a:cs typeface="B Nazanin" panose="00000400000000000000" pitchFamily="2" charset="-78"/>
              </a:rPr>
              <a:t> </a:t>
            </a:r>
            <a:r>
              <a:rPr lang="fa-IR" sz="2000" b="1" dirty="0">
                <a:cs typeface="B Nazanin" panose="00000400000000000000" pitchFamily="2" charset="-78"/>
              </a:rPr>
              <a:t>-ترشح فاکتور داخلی از مخاط </a:t>
            </a:r>
            <a:r>
              <a:rPr lang="fa-IR" sz="2000" b="1" dirty="0" smtClean="0">
                <a:cs typeface="B Nazanin" panose="00000400000000000000" pitchFamily="2" charset="-78"/>
              </a:rPr>
              <a:t>معده(ترکیب با </a:t>
            </a:r>
            <a:r>
              <a:rPr lang="fa-IR" sz="2000" b="1" dirty="0">
                <a:cs typeface="B Nazanin" panose="00000400000000000000" pitchFamily="2" charset="-78"/>
              </a:rPr>
              <a:t>ویتامین </a:t>
            </a:r>
            <a:r>
              <a:rPr lang="en-US" sz="2000" b="1" dirty="0">
                <a:cs typeface="B Nazanin" panose="00000400000000000000" pitchFamily="2" charset="-78"/>
              </a:rPr>
              <a:t>B 12 </a:t>
            </a:r>
            <a:r>
              <a:rPr lang="fa-IR" sz="2000" b="1" dirty="0">
                <a:cs typeface="B Nazanin" panose="00000400000000000000" pitchFamily="2" charset="-78"/>
              </a:rPr>
              <a:t>وجذب در </a:t>
            </a:r>
            <a:r>
              <a:rPr lang="fa-IR" sz="2000" b="1" dirty="0" smtClean="0">
                <a:cs typeface="B Nazanin" panose="00000400000000000000" pitchFamily="2" charset="-78"/>
              </a:rPr>
              <a:t>ایلئوم)</a:t>
            </a:r>
          </a:p>
          <a:p>
            <a:pPr marL="0" indent="0" algn="r" rtl="1">
              <a:buNone/>
            </a:pPr>
            <a:r>
              <a:rPr lang="fa-IR" sz="2000" b="1" dirty="0" smtClean="0">
                <a:cs typeface="B Nazanin" panose="00000400000000000000" pitchFamily="2" charset="-78"/>
              </a:rPr>
              <a:t>(ویتامین </a:t>
            </a:r>
            <a:r>
              <a:rPr lang="en-US" sz="2000" b="1" dirty="0" smtClean="0">
                <a:cs typeface="B Nazanin" panose="00000400000000000000" pitchFamily="2" charset="-78"/>
              </a:rPr>
              <a:t>B12</a:t>
            </a:r>
            <a:r>
              <a:rPr lang="fa-IR" sz="2000" b="1" dirty="0" smtClean="0">
                <a:cs typeface="B Nazanin" panose="00000400000000000000" pitchFamily="2" charset="-78"/>
              </a:rPr>
              <a:t> از مواد ضروری برای ساخت گلبول قرمز است)</a:t>
            </a:r>
            <a:endParaRPr lang="fa-IR" sz="2000" b="1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sz="2000" b="1" dirty="0" smtClean="0">
                <a:cs typeface="B Nazanin" panose="00000400000000000000" pitchFamily="2" charset="-78"/>
              </a:rPr>
              <a:t>7 </a:t>
            </a:r>
            <a:r>
              <a:rPr lang="fa-IR" sz="2000" b="1" dirty="0">
                <a:cs typeface="B Nazanin" panose="00000400000000000000" pitchFamily="2" charset="-78"/>
              </a:rPr>
              <a:t>-وارد کردن محتویات خرد شده به دوازدهه با حرکات </a:t>
            </a:r>
            <a:r>
              <a:rPr lang="fa-IR" sz="2000" b="1" dirty="0" smtClean="0">
                <a:cs typeface="B Nazanin" panose="00000400000000000000" pitchFamily="2" charset="-78"/>
              </a:rPr>
              <a:t>دودی</a:t>
            </a:r>
            <a:endParaRPr lang="fa-IR" sz="2000" b="1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sz="2000" b="1" dirty="0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</a:rPr>
              <a:t>غذا در معده از 1 تا چند ساعت </a:t>
            </a:r>
            <a:r>
              <a:rPr lang="fa-IR" sz="2000" b="1" dirty="0" smtClean="0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</a:rPr>
              <a:t>ممکن است بماند.</a:t>
            </a:r>
            <a:endParaRPr lang="fa-IR" sz="2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63607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solidFill>
                  <a:srgbClr val="92D050"/>
                </a:solidFill>
                <a:cs typeface="B Nazanin" panose="00000400000000000000" pitchFamily="2" charset="-78"/>
              </a:rPr>
              <a:t>عملکرد روده</a:t>
            </a:r>
            <a:r>
              <a:rPr lang="fa-IR" dirty="0"/>
              <a:t/>
            </a:r>
            <a:br>
              <a:rPr lang="fa-IR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r">
              <a:buNone/>
            </a:pPr>
            <a:r>
              <a:rPr lang="fa-IR" sz="2000" dirty="0" smtClean="0">
                <a:cs typeface="B Nazanin" panose="00000400000000000000" pitchFamily="2" charset="-78"/>
              </a:rPr>
              <a:t>1-ا</a:t>
            </a:r>
            <a:r>
              <a:rPr lang="fa-IR" sz="2000" b="1" dirty="0" smtClean="0">
                <a:cs typeface="B Nazanin" panose="00000400000000000000" pitchFamily="2" charset="-78"/>
              </a:rPr>
              <a:t>مولیسیفیکاسیون </a:t>
            </a:r>
            <a:r>
              <a:rPr lang="fa-IR" sz="2000" b="1" dirty="0">
                <a:cs typeface="B Nazanin" panose="00000400000000000000" pitchFamily="2" charset="-78"/>
              </a:rPr>
              <a:t>چربیها با ریزش صفرا روی </a:t>
            </a:r>
            <a:r>
              <a:rPr lang="fa-IR" sz="2000" b="1" dirty="0" smtClean="0">
                <a:cs typeface="B Nazanin" panose="00000400000000000000" pitchFamily="2" charset="-78"/>
              </a:rPr>
              <a:t>کیموس</a:t>
            </a:r>
            <a:endParaRPr lang="fa-IR" sz="2000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2000" b="1" dirty="0" smtClean="0">
                <a:cs typeface="B Nazanin" panose="00000400000000000000" pitchFamily="2" charset="-78"/>
              </a:rPr>
              <a:t>2-خنثی </a:t>
            </a:r>
            <a:r>
              <a:rPr lang="fa-IR" sz="2000" b="1" dirty="0">
                <a:cs typeface="B Nazanin" panose="00000400000000000000" pitchFamily="2" charset="-78"/>
              </a:rPr>
              <a:t>کردن اسید معده با ریزش بیکربنات ترشح شده از </a:t>
            </a:r>
            <a:r>
              <a:rPr lang="fa-IR" sz="2000" b="1" dirty="0" smtClean="0">
                <a:cs typeface="B Nazanin" panose="00000400000000000000" pitchFamily="2" charset="-78"/>
              </a:rPr>
              <a:t>پانکراس</a:t>
            </a:r>
            <a:endParaRPr lang="fa-IR" sz="2000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2000" b="1" dirty="0" smtClean="0">
                <a:cs typeface="B Nazanin" panose="00000400000000000000" pitchFamily="2" charset="-78"/>
              </a:rPr>
              <a:t>3-ترشح </a:t>
            </a:r>
            <a:r>
              <a:rPr lang="fa-IR" sz="2000" b="1" dirty="0">
                <a:cs typeface="B Nazanin" panose="00000400000000000000" pitchFamily="2" charset="-78"/>
              </a:rPr>
              <a:t>آمیلاز و لیپاز و تریپسین از پانکراس برای هضم </a:t>
            </a:r>
            <a:r>
              <a:rPr lang="fa-IR" sz="2000" b="1" dirty="0" smtClean="0">
                <a:cs typeface="B Nazanin" panose="00000400000000000000" pitchFamily="2" charset="-78"/>
              </a:rPr>
              <a:t>مواد</a:t>
            </a:r>
            <a:endParaRPr lang="fa-IR" sz="2000" b="1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endParaRPr lang="fa-IR" sz="2000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2000" b="1" dirty="0" smtClean="0">
                <a:cs typeface="B Nazanin" panose="00000400000000000000" pitchFamily="2" charset="-78"/>
              </a:rPr>
              <a:t>4-ترشح </a:t>
            </a:r>
            <a:r>
              <a:rPr lang="fa-IR" sz="2000" b="1" dirty="0">
                <a:cs typeface="B Nazanin" panose="00000400000000000000" pitchFamily="2" charset="-78"/>
              </a:rPr>
              <a:t>موکوس از غدد روده ای برای محافظت </a:t>
            </a:r>
            <a:r>
              <a:rPr lang="fa-IR" sz="2000" b="1" dirty="0" smtClean="0">
                <a:cs typeface="B Nazanin" panose="00000400000000000000" pitchFamily="2" charset="-78"/>
              </a:rPr>
              <a:t>مخاط روده، در برابر </a:t>
            </a:r>
            <a:r>
              <a:rPr lang="fa-IR" sz="2000" b="1" dirty="0">
                <a:cs typeface="B Nazanin" panose="00000400000000000000" pitchFamily="2" charset="-78"/>
              </a:rPr>
              <a:t>اسید معده و </a:t>
            </a:r>
            <a:r>
              <a:rPr lang="fa-IR" sz="2000" b="1" dirty="0" smtClean="0">
                <a:cs typeface="B Nazanin" panose="00000400000000000000" pitchFamily="2" charset="-78"/>
              </a:rPr>
              <a:t>بیکربنات پانکراس</a:t>
            </a:r>
            <a:endParaRPr lang="fa-IR" sz="2000" b="1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endParaRPr lang="fa-IR" sz="2000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2000" b="1" dirty="0" smtClean="0">
                <a:cs typeface="B Nazanin" panose="00000400000000000000" pitchFamily="2" charset="-78"/>
              </a:rPr>
              <a:t>5-ایجاد </a:t>
            </a:r>
            <a:r>
              <a:rPr lang="fa-IR" sz="2000" b="1" dirty="0">
                <a:cs typeface="B Nazanin" panose="00000400000000000000" pitchFamily="2" charset="-78"/>
              </a:rPr>
              <a:t>امواج مختلط </a:t>
            </a:r>
            <a:r>
              <a:rPr lang="fa-IR" sz="2000" b="1" dirty="0" smtClean="0">
                <a:cs typeface="B Nazanin" panose="00000400000000000000" pitchFamily="2" charset="-78"/>
              </a:rPr>
              <a:t>و خرد </a:t>
            </a:r>
            <a:r>
              <a:rPr lang="fa-IR" sz="2000" b="1" dirty="0">
                <a:cs typeface="B Nazanin" panose="00000400000000000000" pitchFamily="2" charset="-78"/>
              </a:rPr>
              <a:t>کننده </a:t>
            </a:r>
            <a:r>
              <a:rPr lang="fa-IR" sz="2000" b="1" dirty="0" smtClean="0">
                <a:cs typeface="B Nazanin" panose="00000400000000000000" pitchFamily="2" charset="-78"/>
              </a:rPr>
              <a:t>برای هضم غذا</a:t>
            </a:r>
            <a:endParaRPr lang="fa-IR" sz="2000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2000" b="1" dirty="0" smtClean="0">
                <a:cs typeface="B Nazanin" panose="00000400000000000000" pitchFamily="2" charset="-78"/>
              </a:rPr>
              <a:t>6-ایجاد </a:t>
            </a:r>
            <a:r>
              <a:rPr lang="fa-IR" sz="2000" b="1" dirty="0">
                <a:cs typeface="B Nazanin" panose="00000400000000000000" pitchFamily="2" charset="-78"/>
              </a:rPr>
              <a:t>پریستالتیس برای حرکت رو به جلو </a:t>
            </a:r>
            <a:r>
              <a:rPr lang="fa-IR" sz="2000" b="1" dirty="0" smtClean="0">
                <a:cs typeface="B Nazanin" panose="00000400000000000000" pitchFamily="2" charset="-78"/>
              </a:rPr>
              <a:t>محتویات داخل روده</a:t>
            </a:r>
            <a:endParaRPr lang="fa-IR" sz="2000" b="1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endParaRPr lang="fa-IR" sz="2000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2000" b="1" dirty="0" smtClean="0">
                <a:cs typeface="B Nazanin" panose="00000400000000000000" pitchFamily="2" charset="-78"/>
              </a:rPr>
              <a:t>7-جذب </a:t>
            </a:r>
            <a:r>
              <a:rPr lang="fa-IR" sz="2000" b="1" dirty="0">
                <a:cs typeface="B Nazanin" panose="00000400000000000000" pitchFamily="2" charset="-78"/>
              </a:rPr>
              <a:t>کربوهیدراتهای تبدیل شده به گلوکز و فروکتوز ،پروتئین تبدیل شده </a:t>
            </a:r>
            <a:r>
              <a:rPr lang="fa-IR" sz="2000" b="1" dirty="0" smtClean="0">
                <a:cs typeface="B Nazanin" panose="00000400000000000000" pitchFamily="2" charset="-78"/>
              </a:rPr>
              <a:t>به آمینواسید </a:t>
            </a:r>
            <a:r>
              <a:rPr lang="fa-IR" sz="2000" b="1" dirty="0">
                <a:cs typeface="B Nazanin" panose="00000400000000000000" pitchFamily="2" charset="-78"/>
              </a:rPr>
              <a:t>و تری گلیسریدهای تبدیل شده به اسیدچرب</a:t>
            </a:r>
            <a:endParaRPr lang="fa-IR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33702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fa-IR" b="1" dirty="0" smtClean="0"/>
              <a:t>-کل </a:t>
            </a:r>
            <a:r>
              <a:rPr lang="fa-IR" b="1" dirty="0"/>
              <a:t>ترشحات روده ای در طول 24 </a:t>
            </a:r>
            <a:r>
              <a:rPr lang="fa-IR" b="1" dirty="0" smtClean="0"/>
              <a:t>ساعت:</a:t>
            </a:r>
            <a:endParaRPr lang="fa-IR" sz="2100" dirty="0"/>
          </a:p>
          <a:p>
            <a:pPr marL="0" indent="0" algn="r">
              <a:buNone/>
            </a:pPr>
            <a:r>
              <a:rPr lang="fa-IR" sz="2100" b="1" dirty="0"/>
              <a:t>-</a:t>
            </a:r>
            <a:r>
              <a:rPr lang="fa-IR" sz="2100" b="1" dirty="0">
                <a:solidFill>
                  <a:srgbClr val="FF0000"/>
                </a:solidFill>
              </a:rPr>
              <a:t>یک لیتر شیره </a:t>
            </a:r>
            <a:r>
              <a:rPr lang="fa-IR" sz="2100" b="1" dirty="0" smtClean="0">
                <a:solidFill>
                  <a:srgbClr val="FF0000"/>
                </a:solidFill>
              </a:rPr>
              <a:t>پانکراس</a:t>
            </a:r>
            <a:endParaRPr lang="fa-IR" sz="2100" dirty="0">
              <a:solidFill>
                <a:srgbClr val="FF0000"/>
              </a:solidFill>
            </a:endParaRPr>
          </a:p>
          <a:p>
            <a:pPr marL="0" indent="0" algn="r">
              <a:buNone/>
            </a:pPr>
            <a:r>
              <a:rPr lang="fa-IR" sz="2100" b="1" dirty="0">
                <a:solidFill>
                  <a:srgbClr val="FF0000"/>
                </a:solidFill>
              </a:rPr>
              <a:t>-نیم لیتر </a:t>
            </a:r>
            <a:r>
              <a:rPr lang="fa-IR" sz="2100" b="1" dirty="0" smtClean="0">
                <a:solidFill>
                  <a:srgbClr val="FF0000"/>
                </a:solidFill>
              </a:rPr>
              <a:t>صفرا</a:t>
            </a:r>
            <a:endParaRPr lang="fa-IR" sz="2100" dirty="0">
              <a:solidFill>
                <a:srgbClr val="FF0000"/>
              </a:solidFill>
            </a:endParaRPr>
          </a:p>
          <a:p>
            <a:pPr marL="0" indent="0" algn="r">
              <a:buNone/>
            </a:pPr>
            <a:r>
              <a:rPr lang="fa-IR" sz="2100" b="1" dirty="0">
                <a:solidFill>
                  <a:srgbClr val="FF0000"/>
                </a:solidFill>
              </a:rPr>
              <a:t>سه لیتر ترشحات خود روده</a:t>
            </a:r>
          </a:p>
          <a:p>
            <a:pPr marL="0" indent="0" algn="r">
              <a:buNone/>
            </a:pPr>
            <a:endParaRPr lang="fa-IR" dirty="0"/>
          </a:p>
          <a:p>
            <a:pPr marL="0" indent="0" algn="r">
              <a:buNone/>
            </a:pPr>
            <a:r>
              <a:rPr lang="fa-IR" b="1" dirty="0" smtClean="0"/>
              <a:t>-ویتامین </a:t>
            </a:r>
            <a:r>
              <a:rPr lang="fa-IR" b="1" dirty="0"/>
              <a:t>ها ومواد معدنی بدون هضم وتغییر به طریق انتقال فعال و انتشار در</a:t>
            </a:r>
          </a:p>
          <a:p>
            <a:pPr marL="0" indent="0" algn="r">
              <a:buNone/>
            </a:pPr>
            <a:r>
              <a:rPr lang="fa-IR" b="1" dirty="0"/>
              <a:t>ژژنوم جذب می </a:t>
            </a:r>
            <a:r>
              <a:rPr lang="fa-IR" b="1" dirty="0" smtClean="0"/>
              <a:t>شوند</a:t>
            </a:r>
          </a:p>
          <a:p>
            <a:pPr marL="0" indent="0" algn="r">
              <a:buNone/>
            </a:pPr>
            <a:r>
              <a:rPr lang="fa-IR" b="1" dirty="0" smtClean="0"/>
              <a:t>4 </a:t>
            </a:r>
            <a:r>
              <a:rPr lang="fa-IR" b="1" dirty="0"/>
              <a:t>ساعت بعد از صرف </a:t>
            </a:r>
            <a:r>
              <a:rPr lang="fa-IR" b="1" dirty="0" smtClean="0"/>
              <a:t>غذا مواد </a:t>
            </a:r>
            <a:r>
              <a:rPr lang="fa-IR" b="1" dirty="0"/>
              <a:t>زاید باقیمانده </a:t>
            </a:r>
            <a:r>
              <a:rPr lang="fa-IR" b="1" dirty="0" smtClean="0"/>
              <a:t>وارد ایلئوم </a:t>
            </a:r>
            <a:r>
              <a:rPr lang="fa-IR" b="1" dirty="0"/>
              <a:t>انتهایی شده </a:t>
            </a:r>
            <a:r>
              <a:rPr lang="fa-IR" b="1" dirty="0" smtClean="0"/>
              <a:t>وازطریق </a:t>
            </a:r>
            <a:r>
              <a:rPr lang="fa-IR" b="1" dirty="0"/>
              <a:t>دریچه ایلئوسکال وارد کولون میشود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715029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عملکرد کولون</a:t>
            </a:r>
            <a:br>
              <a:rPr lang="fa-IR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r">
              <a:buNone/>
            </a:pPr>
            <a:r>
              <a:rPr lang="fa-IR" sz="1800" b="1" dirty="0" smtClean="0">
                <a:cs typeface="B Nazanin" panose="00000400000000000000" pitchFamily="2" charset="-78"/>
              </a:rPr>
              <a:t>باکتریها </a:t>
            </a:r>
            <a:r>
              <a:rPr lang="fa-IR" sz="1800" b="1" dirty="0">
                <a:cs typeface="B Nazanin" panose="00000400000000000000" pitchFamily="2" charset="-78"/>
              </a:rPr>
              <a:t>یکی از اجزای اصلی روده بزرگ </a:t>
            </a:r>
            <a:r>
              <a:rPr lang="fa-IR" sz="1800" b="1" dirty="0" smtClean="0">
                <a:cs typeface="B Nazanin" panose="00000400000000000000" pitchFamily="2" charset="-78"/>
              </a:rPr>
              <a:t>هستند</a:t>
            </a:r>
            <a:endParaRPr lang="fa-IR" sz="1800" b="1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1800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1-تجزیه </a:t>
            </a:r>
            <a:r>
              <a:rPr lang="fa-IR" sz="1800" b="1" dirty="0">
                <a:solidFill>
                  <a:srgbClr val="FF0000"/>
                </a:solidFill>
                <a:cs typeface="B Nazanin" panose="00000400000000000000" pitchFamily="2" charset="-78"/>
              </a:rPr>
              <a:t>مواد هضم نشده توسط </a:t>
            </a:r>
            <a:r>
              <a:rPr lang="fa-IR" sz="1800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باکتریها</a:t>
            </a:r>
            <a:endParaRPr lang="fa-IR" sz="18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1800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2-جذب </a:t>
            </a:r>
            <a:r>
              <a:rPr lang="fa-IR" sz="1800" b="1" dirty="0">
                <a:solidFill>
                  <a:srgbClr val="FF0000"/>
                </a:solidFill>
                <a:cs typeface="B Nazanin" panose="00000400000000000000" pitchFamily="2" charset="-78"/>
              </a:rPr>
              <a:t>آب </a:t>
            </a:r>
            <a:r>
              <a:rPr lang="fa-IR" sz="1800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والکترولیتها</a:t>
            </a:r>
            <a:endParaRPr lang="fa-IR" sz="18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1800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3-انتقال </a:t>
            </a:r>
            <a:r>
              <a:rPr lang="fa-IR" sz="1800" b="1" dirty="0">
                <a:solidFill>
                  <a:srgbClr val="FF0000"/>
                </a:solidFill>
                <a:cs typeface="B Nazanin" panose="00000400000000000000" pitchFamily="2" charset="-78"/>
              </a:rPr>
              <a:t>محتویات مانده به رکتوم با حرکات دودی </a:t>
            </a:r>
            <a:r>
              <a:rPr lang="fa-IR" sz="1800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آهسته</a:t>
            </a:r>
          </a:p>
          <a:p>
            <a:pPr marL="0" indent="0" algn="r">
              <a:buNone/>
            </a:pPr>
            <a:endParaRPr lang="fa-IR" sz="18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1800" b="1" dirty="0">
                <a:cs typeface="B Nazanin" panose="00000400000000000000" pitchFamily="2" charset="-78"/>
              </a:rPr>
              <a:t>قسمت اعظم مدفوع از ترشحات گوارش است </a:t>
            </a:r>
            <a:r>
              <a:rPr lang="fa-IR" sz="1800" b="1" dirty="0" smtClean="0">
                <a:cs typeface="B Nazanin" panose="00000400000000000000" pitchFamily="2" charset="-78"/>
              </a:rPr>
              <a:t>و منشا </a:t>
            </a:r>
            <a:r>
              <a:rPr lang="fa-IR" sz="1800" b="1" dirty="0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</a:rPr>
              <a:t>غیر غذایی </a:t>
            </a:r>
            <a:r>
              <a:rPr lang="fa-IR" sz="1800" b="1" dirty="0" smtClean="0">
                <a:cs typeface="B Nazanin" panose="00000400000000000000" pitchFamily="2" charset="-78"/>
              </a:rPr>
              <a:t>دارد</a:t>
            </a:r>
            <a:endParaRPr lang="fa-IR" sz="1800" b="1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1800" b="1" dirty="0">
                <a:cs typeface="B Nazanin" panose="00000400000000000000" pitchFamily="2" charset="-78"/>
              </a:rPr>
              <a:t>رنگ قهوه ای مدفوع ناشی از </a:t>
            </a:r>
            <a:r>
              <a:rPr lang="fa-IR" sz="1800" b="1" dirty="0">
                <a:solidFill>
                  <a:srgbClr val="7030A0"/>
                </a:solidFill>
                <a:cs typeface="B Nazanin" panose="00000400000000000000" pitchFamily="2" charset="-78"/>
              </a:rPr>
              <a:t>تجزیه صفرا </a:t>
            </a:r>
            <a:r>
              <a:rPr lang="fa-IR" sz="1800" b="1" dirty="0">
                <a:cs typeface="B Nazanin" panose="00000400000000000000" pitchFamily="2" charset="-78"/>
              </a:rPr>
              <a:t>توسط باکتریها </a:t>
            </a:r>
            <a:r>
              <a:rPr lang="fa-IR" sz="1800" b="1" dirty="0" smtClean="0">
                <a:cs typeface="B Nazanin" panose="00000400000000000000" pitchFamily="2" charset="-78"/>
              </a:rPr>
              <a:t>است</a:t>
            </a:r>
          </a:p>
          <a:p>
            <a:pPr marL="0" indent="0" algn="r">
              <a:buNone/>
            </a:pPr>
            <a:endParaRPr lang="fa-IR" sz="1800" b="1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1800" b="1" dirty="0">
                <a:cs typeface="B Nazanin" panose="00000400000000000000" pitchFamily="2" charset="-78"/>
              </a:rPr>
              <a:t>گازهایی مثل متان وسولفید هیدروژن </a:t>
            </a:r>
            <a:r>
              <a:rPr lang="fa-IR" sz="1800" b="1" dirty="0" smtClean="0">
                <a:cs typeface="B Nazanin" panose="00000400000000000000" pitchFamily="2" charset="-78"/>
              </a:rPr>
              <a:t>وآمونیاک( </a:t>
            </a:r>
            <a:r>
              <a:rPr lang="fa-IR" sz="1800" b="1" dirty="0">
                <a:cs typeface="B Nazanin" panose="00000400000000000000" pitchFamily="2" charset="-78"/>
              </a:rPr>
              <a:t>150 میلی </a:t>
            </a:r>
            <a:r>
              <a:rPr lang="fa-IR" sz="1800" b="1" dirty="0" smtClean="0">
                <a:cs typeface="B Nazanin" panose="00000400000000000000" pitchFamily="2" charset="-78"/>
              </a:rPr>
              <a:t>لیتر) </a:t>
            </a:r>
            <a:r>
              <a:rPr lang="fa-IR" sz="1800" b="1" dirty="0">
                <a:cs typeface="B Nazanin" panose="00000400000000000000" pitchFamily="2" charset="-78"/>
              </a:rPr>
              <a:t>حاصل </a:t>
            </a:r>
            <a:r>
              <a:rPr lang="fa-IR" sz="1800" b="1" dirty="0" smtClean="0">
                <a:cs typeface="B Nazanin" panose="00000400000000000000" pitchFamily="2" charset="-78"/>
              </a:rPr>
              <a:t>فعالیت باکتریهای </a:t>
            </a:r>
            <a:r>
              <a:rPr lang="fa-IR" sz="1800" b="1" dirty="0">
                <a:cs typeface="B Nazanin" panose="00000400000000000000" pitchFamily="2" charset="-78"/>
              </a:rPr>
              <a:t>روده </a:t>
            </a:r>
            <a:r>
              <a:rPr lang="fa-IR" sz="1800" b="1" dirty="0" smtClean="0">
                <a:cs typeface="B Nazanin" panose="00000400000000000000" pitchFamily="2" charset="-78"/>
              </a:rPr>
              <a:t>است</a:t>
            </a:r>
            <a:endParaRPr lang="fa-IR" sz="1800" b="1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sz="1800" b="1" dirty="0">
                <a:cs typeface="B Nazanin" panose="00000400000000000000" pitchFamily="2" charset="-78"/>
              </a:rPr>
              <a:t>این گازها یا از رکتوم دفع میشوند </a:t>
            </a:r>
            <a:r>
              <a:rPr lang="fa-IR" sz="1800" b="1" dirty="0" smtClean="0">
                <a:cs typeface="B Nazanin" panose="00000400000000000000" pitchFamily="2" charset="-78"/>
              </a:rPr>
              <a:t>ولی </a:t>
            </a:r>
            <a:r>
              <a:rPr lang="fa-IR" sz="1800" b="1" dirty="0">
                <a:cs typeface="B Nazanin" panose="00000400000000000000" pitchFamily="2" charset="-78"/>
              </a:rPr>
              <a:t>قسمت اعظم آن از طریق ورید باب </a:t>
            </a:r>
            <a:r>
              <a:rPr lang="fa-IR" sz="1800" b="1" dirty="0" smtClean="0">
                <a:cs typeface="B Nazanin" panose="00000400000000000000" pitchFamily="2" charset="-78"/>
              </a:rPr>
              <a:t>واردکبد </a:t>
            </a:r>
            <a:r>
              <a:rPr lang="fa-IR" sz="1800" b="1" dirty="0">
                <a:cs typeface="B Nazanin" panose="00000400000000000000" pitchFamily="2" charset="-78"/>
              </a:rPr>
              <a:t>شده و سم زدایی می </a:t>
            </a:r>
            <a:r>
              <a:rPr lang="fa-IR" sz="1800" b="1" dirty="0" smtClean="0">
                <a:cs typeface="B Nazanin" panose="00000400000000000000" pitchFamily="2" charset="-78"/>
              </a:rPr>
              <a:t>شود.</a:t>
            </a:r>
            <a:endParaRPr lang="fa-IR" sz="18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849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8097" y="365126"/>
            <a:ext cx="7630510" cy="681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10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73572"/>
            <a:ext cx="9997966" cy="678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667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بررسی تظاهرات بالینی</a:t>
            </a:r>
            <a:br>
              <a:rPr lang="fa-IR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r" rtl="1"/>
            <a:r>
              <a:rPr lang="fa-IR" sz="1800" b="1" dirty="0" smtClean="0">
                <a:cs typeface="B Nazanin" panose="00000400000000000000" pitchFamily="2" charset="-78"/>
              </a:rPr>
              <a:t>درد</a:t>
            </a:r>
            <a:endParaRPr lang="fa-IR" sz="1800" b="1" dirty="0">
              <a:cs typeface="B Nazanin" panose="00000400000000000000" pitchFamily="2" charset="-78"/>
            </a:endParaRPr>
          </a:p>
          <a:p>
            <a:pPr algn="r" rtl="1"/>
            <a:r>
              <a:rPr lang="fa-IR" sz="1800" b="1" dirty="0" smtClean="0">
                <a:cs typeface="B Nazanin" panose="00000400000000000000" pitchFamily="2" charset="-78"/>
              </a:rPr>
              <a:t>ویژگی درد</a:t>
            </a:r>
            <a:endParaRPr lang="fa-IR" sz="1800" b="1" dirty="0">
              <a:cs typeface="B Nazanin" panose="00000400000000000000" pitchFamily="2" charset="-78"/>
            </a:endParaRPr>
          </a:p>
          <a:p>
            <a:pPr algn="r" rtl="1"/>
            <a:r>
              <a:rPr lang="fa-IR" sz="1800" b="1" dirty="0">
                <a:cs typeface="B Nazanin" panose="00000400000000000000" pitchFamily="2" charset="-78"/>
              </a:rPr>
              <a:t>طول مدت </a:t>
            </a:r>
            <a:r>
              <a:rPr lang="fa-IR" sz="1800" b="1" dirty="0" smtClean="0">
                <a:cs typeface="B Nazanin" panose="00000400000000000000" pitchFamily="2" charset="-78"/>
              </a:rPr>
              <a:t>درد</a:t>
            </a:r>
            <a:endParaRPr lang="fa-IR" sz="1800" b="1" dirty="0">
              <a:cs typeface="B Nazanin" panose="00000400000000000000" pitchFamily="2" charset="-78"/>
            </a:endParaRPr>
          </a:p>
          <a:p>
            <a:pPr algn="r" rtl="1"/>
            <a:r>
              <a:rPr lang="fa-IR" sz="1800" b="1" dirty="0">
                <a:cs typeface="B Nazanin" panose="00000400000000000000" pitchFamily="2" charset="-78"/>
              </a:rPr>
              <a:t>تکرر </a:t>
            </a:r>
            <a:r>
              <a:rPr lang="fa-IR" sz="1800" b="1" dirty="0" smtClean="0">
                <a:cs typeface="B Nazanin" panose="00000400000000000000" pitchFamily="2" charset="-78"/>
              </a:rPr>
              <a:t>درد</a:t>
            </a:r>
            <a:endParaRPr lang="fa-IR" sz="1800" b="1" dirty="0">
              <a:cs typeface="B Nazanin" panose="00000400000000000000" pitchFamily="2" charset="-78"/>
            </a:endParaRPr>
          </a:p>
          <a:p>
            <a:pPr algn="r" rtl="1"/>
            <a:r>
              <a:rPr lang="fa-IR" sz="1800" b="1" dirty="0">
                <a:cs typeface="B Nazanin" panose="00000400000000000000" pitchFamily="2" charset="-78"/>
              </a:rPr>
              <a:t>محل </a:t>
            </a:r>
            <a:r>
              <a:rPr lang="fa-IR" sz="1800" b="1" dirty="0" smtClean="0">
                <a:cs typeface="B Nazanin" panose="00000400000000000000" pitchFamily="2" charset="-78"/>
              </a:rPr>
              <a:t>درد</a:t>
            </a:r>
            <a:endParaRPr lang="fa-IR" sz="1800" b="1" dirty="0">
              <a:cs typeface="B Nazanin" panose="00000400000000000000" pitchFamily="2" charset="-78"/>
            </a:endParaRPr>
          </a:p>
          <a:p>
            <a:pPr algn="r" rtl="1"/>
            <a:r>
              <a:rPr lang="fa-IR" sz="1800" b="1" dirty="0" smtClean="0">
                <a:cs typeface="B Nazanin" panose="00000400000000000000" pitchFamily="2" charset="-78"/>
              </a:rPr>
              <a:t>انتشار</a:t>
            </a:r>
            <a:endParaRPr lang="fa-IR" sz="1800" b="1" dirty="0">
              <a:cs typeface="B Nazanin" panose="00000400000000000000" pitchFamily="2" charset="-78"/>
            </a:endParaRPr>
          </a:p>
          <a:p>
            <a:pPr algn="r" rtl="1"/>
            <a:r>
              <a:rPr lang="fa-IR" sz="1800" b="1" dirty="0">
                <a:cs typeface="B Nazanin" panose="00000400000000000000" pitchFamily="2" charset="-78"/>
              </a:rPr>
              <a:t>زمان </a:t>
            </a:r>
            <a:r>
              <a:rPr lang="fa-IR" sz="1800" b="1" dirty="0" smtClean="0">
                <a:cs typeface="B Nazanin" panose="00000400000000000000" pitchFamily="2" charset="-78"/>
              </a:rPr>
              <a:t>درد</a:t>
            </a:r>
            <a:endParaRPr lang="fa-IR" sz="1800" b="1" dirty="0">
              <a:cs typeface="B Nazanin" panose="00000400000000000000" pitchFamily="2" charset="-78"/>
            </a:endParaRPr>
          </a:p>
          <a:p>
            <a:pPr algn="r" rtl="1"/>
            <a:r>
              <a:rPr lang="fa-IR" sz="1800" b="1" dirty="0">
                <a:cs typeface="B Nazanin" panose="00000400000000000000" pitchFamily="2" charset="-78"/>
              </a:rPr>
              <a:t>ارتباط درد با غذا </a:t>
            </a:r>
            <a:r>
              <a:rPr lang="fa-IR" sz="1800" b="1" dirty="0" smtClean="0">
                <a:cs typeface="B Nazanin" panose="00000400000000000000" pitchFamily="2" charset="-78"/>
              </a:rPr>
              <a:t>خوردن</a:t>
            </a:r>
            <a:endParaRPr lang="fa-IR" sz="1800" b="1" dirty="0">
              <a:cs typeface="B Nazanin" panose="00000400000000000000" pitchFamily="2" charset="-78"/>
            </a:endParaRPr>
          </a:p>
          <a:p>
            <a:pPr algn="r" rtl="1"/>
            <a:r>
              <a:rPr lang="fa-IR" sz="1800" b="1" dirty="0">
                <a:cs typeface="B Nazanin" panose="00000400000000000000" pitchFamily="2" charset="-78"/>
              </a:rPr>
              <a:t>ارتباط درد با دفع </a:t>
            </a:r>
            <a:r>
              <a:rPr lang="fa-IR" sz="1800" b="1" dirty="0" smtClean="0">
                <a:cs typeface="B Nazanin" panose="00000400000000000000" pitchFamily="2" charset="-78"/>
              </a:rPr>
              <a:t>مدفوع</a:t>
            </a:r>
            <a:endParaRPr lang="fa-IR" sz="18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35625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/>
          <a:lstStyle/>
          <a:p>
            <a:endParaRPr lang="fa-I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2"/>
            <a:ext cx="10468303" cy="719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945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5422" y="0"/>
            <a:ext cx="104183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824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 سوء </a:t>
            </a:r>
            <a:r>
              <a:rPr lang="fa-IR" dirty="0"/>
              <a:t>هاضمه </a:t>
            </a:r>
            <a:r>
              <a:rPr lang="en-US" dirty="0" smtClean="0"/>
              <a:t>dyspepsia</a:t>
            </a:r>
            <a:r>
              <a:rPr lang="en-US" dirty="0"/>
              <a:t/>
            </a:r>
            <a:br>
              <a:rPr lang="en-US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r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ناراحتی و احساس </a:t>
            </a:r>
            <a:r>
              <a:rPr lang="fa-IR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فشار در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قسمت فوقانی شکم در </a:t>
            </a:r>
            <a:r>
              <a:rPr lang="fa-IR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اثرخوردن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غذا</a:t>
            </a:r>
          </a:p>
          <a:p>
            <a:pPr algn="r" rtl="1"/>
            <a:endParaRPr lang="fa-IR" b="1" dirty="0"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cs typeface="B Nazanin" panose="00000400000000000000" pitchFamily="2" charset="-78"/>
              </a:rPr>
              <a:t>شایعترین شکایت بیماران با اختلال عملکرد گوارشی است</a:t>
            </a:r>
          </a:p>
          <a:p>
            <a:pPr algn="r" rtl="1"/>
            <a:endParaRPr lang="fa-IR" b="1" dirty="0"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cs typeface="B Nazanin" panose="00000400000000000000" pitchFamily="2" charset="-78"/>
              </a:rPr>
              <a:t>ممکن است علت عصبی و یا علت ساختاری داشته باشد</a:t>
            </a:r>
          </a:p>
          <a:p>
            <a:pPr algn="r" rtl="1"/>
            <a:endParaRPr lang="fa-IR" b="1" dirty="0">
              <a:cs typeface="B Nazanin" panose="00000400000000000000" pitchFamily="2" charset="-78"/>
            </a:endParaRPr>
          </a:p>
          <a:p>
            <a:pPr algn="r" rtl="1"/>
            <a:r>
              <a:rPr lang="fa-IR" b="1" dirty="0" smtClean="0">
                <a:cs typeface="B Nazanin" panose="00000400000000000000" pitchFamily="2" charset="-78"/>
              </a:rPr>
              <a:t>معمولا غذاهای </a:t>
            </a:r>
            <a:r>
              <a:rPr lang="fa-IR" b="1" dirty="0">
                <a:cs typeface="B Nazanin" panose="00000400000000000000" pitchFamily="2" charset="-78"/>
              </a:rPr>
              <a:t>چرب که بیشتر در معده می مانند و سبزیجات </a:t>
            </a:r>
            <a:r>
              <a:rPr lang="fa-IR" b="1" dirty="0" smtClean="0">
                <a:cs typeface="B Nazanin" panose="00000400000000000000" pitchFamily="2" charset="-78"/>
              </a:rPr>
              <a:t>و ادویه </a:t>
            </a:r>
            <a:r>
              <a:rPr lang="fa-IR" b="1" dirty="0">
                <a:cs typeface="B Nazanin" panose="00000400000000000000" pitchFamily="2" charset="-78"/>
              </a:rPr>
              <a:t>جات باعث ناراحتی بیشتری می </a:t>
            </a:r>
            <a:r>
              <a:rPr lang="fa-IR" b="1" dirty="0" smtClean="0">
                <a:cs typeface="B Nazanin" panose="00000400000000000000" pitchFamily="2" charset="-78"/>
              </a:rPr>
              <a:t>شوند.</a:t>
            </a:r>
            <a:endParaRPr lang="fa-IR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26990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نفخ </a:t>
            </a:r>
            <a:r>
              <a:rPr lang="fa-IR" dirty="0" smtClean="0"/>
              <a:t> یا  </a:t>
            </a:r>
            <a:r>
              <a:rPr lang="fa-IR" dirty="0"/>
              <a:t>گاز روده</a:t>
            </a:r>
            <a:br>
              <a:rPr lang="fa-IR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endParaRPr lang="fa-IR" dirty="0"/>
          </a:p>
          <a:p>
            <a:pPr marL="0" indent="0" algn="r">
              <a:buNone/>
            </a:pPr>
            <a:r>
              <a:rPr lang="fa-IR" b="1" dirty="0"/>
              <a:t>بیمار </a:t>
            </a:r>
            <a:r>
              <a:rPr lang="fa-IR" b="1" dirty="0" smtClean="0"/>
              <a:t>از </a:t>
            </a:r>
            <a:r>
              <a:rPr lang="fa-IR" b="1" dirty="0"/>
              <a:t>پری گاز در معده و باد کردن </a:t>
            </a:r>
            <a:r>
              <a:rPr lang="fa-IR" b="1" dirty="0" smtClean="0"/>
              <a:t>واحساس </a:t>
            </a:r>
            <a:r>
              <a:rPr lang="fa-IR" b="1" dirty="0"/>
              <a:t>نفخ شکم شکایت می </a:t>
            </a:r>
            <a:r>
              <a:rPr lang="fa-IR" b="1" dirty="0" smtClean="0"/>
              <a:t>کند</a:t>
            </a:r>
            <a:endParaRPr lang="fa-IR" b="1" dirty="0"/>
          </a:p>
          <a:p>
            <a:pPr marL="0" indent="0" algn="r">
              <a:buNone/>
            </a:pPr>
            <a:endParaRPr lang="fa-IR" dirty="0"/>
          </a:p>
          <a:p>
            <a:pPr marL="0" indent="0" algn="r" rtl="1">
              <a:buNone/>
            </a:pPr>
            <a:r>
              <a:rPr lang="fa-IR" b="1" dirty="0"/>
              <a:t>این گاز در معده با آروغ </a:t>
            </a:r>
            <a:r>
              <a:rPr lang="fa-IR" b="1" dirty="0" smtClean="0"/>
              <a:t>(</a:t>
            </a:r>
            <a:r>
              <a:rPr lang="en-US" b="1" dirty="0" smtClean="0"/>
              <a:t>belching</a:t>
            </a:r>
            <a:r>
              <a:rPr lang="fa-IR" b="1" dirty="0" smtClean="0"/>
              <a:t>) و </a:t>
            </a:r>
            <a:r>
              <a:rPr lang="fa-IR" b="1" dirty="0"/>
              <a:t>در روده با دفع گاز </a:t>
            </a:r>
            <a:r>
              <a:rPr lang="fa-IR" b="1" dirty="0" smtClean="0"/>
              <a:t>ازمقعد(</a:t>
            </a:r>
            <a:r>
              <a:rPr lang="en-US" b="1" dirty="0" smtClean="0"/>
              <a:t>flatulence</a:t>
            </a:r>
            <a:r>
              <a:rPr lang="fa-IR" b="1" dirty="0" smtClean="0"/>
              <a:t>) </a:t>
            </a:r>
            <a:r>
              <a:rPr lang="fa-IR" b="1" dirty="0"/>
              <a:t>دفع می </a:t>
            </a:r>
            <a:r>
              <a:rPr lang="fa-IR" b="1" dirty="0" smtClean="0"/>
              <a:t>شود.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51699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dirty="0" smtClean="0"/>
              <a:t>تهوع </a:t>
            </a:r>
            <a:r>
              <a:rPr lang="en-US" dirty="0" smtClean="0"/>
              <a:t> </a:t>
            </a:r>
            <a:r>
              <a:rPr lang="en-US" dirty="0" err="1" smtClean="0"/>
              <a:t>nauisia</a:t>
            </a:r>
            <a:r>
              <a:rPr lang="fa-IR" dirty="0" smtClean="0"/>
              <a:t>واستفراغ</a:t>
            </a:r>
            <a:r>
              <a:rPr lang="en-US" dirty="0" smtClean="0"/>
              <a:t>vomiting </a:t>
            </a:r>
            <a:r>
              <a:rPr lang="fa-IR" dirty="0"/>
              <a:t/>
            </a:r>
            <a:br>
              <a:rPr lang="fa-IR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r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b="1" dirty="0">
                <a:cs typeface="B Nazanin" panose="00000400000000000000" pitchFamily="2" charset="-78"/>
              </a:rPr>
              <a:t>یکی از نشانه های اصلی بیماری گوارشی است</a:t>
            </a:r>
          </a:p>
          <a:p>
            <a:pPr marL="0" indent="0" algn="r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r>
              <a:rPr lang="fa-IR" b="1" dirty="0">
                <a:cs typeface="B Nazanin" panose="00000400000000000000" pitchFamily="2" charset="-78"/>
              </a:rPr>
              <a:t>محتویات استفراغ </a:t>
            </a:r>
            <a:r>
              <a:rPr lang="fa-IR" b="1" dirty="0" smtClean="0">
                <a:cs typeface="B Nazanin" panose="00000400000000000000" pitchFamily="2" charset="-78"/>
              </a:rPr>
              <a:t>و مواد </a:t>
            </a:r>
            <a:r>
              <a:rPr lang="fa-IR" b="1" dirty="0">
                <a:cs typeface="B Nazanin" panose="00000400000000000000" pitchFamily="2" charset="-78"/>
              </a:rPr>
              <a:t>موجود در </a:t>
            </a:r>
            <a:r>
              <a:rPr lang="fa-IR" b="1" dirty="0" smtClean="0">
                <a:cs typeface="B Nazanin" panose="00000400000000000000" pitchFamily="2" charset="-78"/>
              </a:rPr>
              <a:t>استفراغ بررسی شود</a:t>
            </a:r>
            <a:endParaRPr lang="fa-IR" b="1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b="1" dirty="0">
                <a:cs typeface="B Nazanin" panose="00000400000000000000" pitchFamily="2" charset="-78"/>
              </a:rPr>
              <a:t>رنگ قرمز روشن نشان از خونریزی جدید و </a:t>
            </a:r>
            <a:r>
              <a:rPr lang="fa-IR" b="1" dirty="0" smtClean="0">
                <a:cs typeface="B Nazanin" panose="00000400000000000000" pitchFamily="2" charset="-78"/>
              </a:rPr>
              <a:t>فعال است(هماتمز)</a:t>
            </a:r>
            <a:r>
              <a:rPr lang="en-US" b="1" dirty="0" smtClean="0">
                <a:cs typeface="B Nazanin" panose="00000400000000000000" pitchFamily="2" charset="-78"/>
              </a:rPr>
              <a:t>hematemesis</a:t>
            </a:r>
            <a:endParaRPr lang="fa-IR" b="1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b="1" dirty="0">
                <a:cs typeface="B Nazanin" panose="00000400000000000000" pitchFamily="2" charset="-78"/>
              </a:rPr>
              <a:t>رنگ قهوه ای تیره نشان از خونریزی کهنه </a:t>
            </a:r>
            <a:r>
              <a:rPr lang="fa-IR" b="1" dirty="0" smtClean="0">
                <a:cs typeface="B Nazanin" panose="00000400000000000000" pitchFamily="2" charset="-78"/>
              </a:rPr>
              <a:t>وکنترل </a:t>
            </a:r>
            <a:r>
              <a:rPr lang="fa-IR" b="1" dirty="0">
                <a:cs typeface="B Nazanin" panose="00000400000000000000" pitchFamily="2" charset="-78"/>
              </a:rPr>
              <a:t>شده </a:t>
            </a:r>
            <a:r>
              <a:rPr lang="fa-IR" b="1" dirty="0" smtClean="0">
                <a:cs typeface="B Nazanin" panose="00000400000000000000" pitchFamily="2" charset="-78"/>
              </a:rPr>
              <a:t>است</a:t>
            </a:r>
          </a:p>
          <a:p>
            <a:pPr marL="0" indent="0" algn="r" rtl="1">
              <a:buNone/>
            </a:pPr>
            <a:r>
              <a:rPr lang="fa-IR" b="1" dirty="0" smtClean="0">
                <a:cs typeface="B Nazanin" panose="00000400000000000000" pitchFamily="2" charset="-78"/>
              </a:rPr>
              <a:t>(کافی گراند)</a:t>
            </a:r>
            <a:r>
              <a:rPr lang="en-US" b="1" dirty="0" smtClean="0">
                <a:cs typeface="B Nazanin" panose="00000400000000000000" pitchFamily="2" charset="-78"/>
              </a:rPr>
              <a:t>coffee grand</a:t>
            </a:r>
            <a:endParaRPr lang="fa-IR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84417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772" y="217542"/>
            <a:ext cx="10515600" cy="1608083"/>
          </a:xfrm>
        </p:spPr>
        <p:txBody>
          <a:bodyPr>
            <a:normAutofit fontScale="90000"/>
          </a:bodyPr>
          <a:lstStyle/>
          <a:p>
            <a:pPr algn="ctr"/>
            <a:r>
              <a:rPr lang="fa-IR" dirty="0"/>
              <a:t/>
            </a:r>
            <a:br>
              <a:rPr lang="fa-IR" dirty="0"/>
            </a:br>
            <a:r>
              <a:rPr lang="fa-IR" dirty="0">
                <a:solidFill>
                  <a:schemeClr val="accent4">
                    <a:lumMod val="50000"/>
                  </a:schemeClr>
                </a:solidFill>
              </a:rPr>
              <a:t/>
            </a:r>
            <a:br>
              <a:rPr lang="fa-IR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fa-IR" sz="3600" dirty="0">
                <a:solidFill>
                  <a:schemeClr val="accent4">
                    <a:lumMod val="50000"/>
                  </a:schemeClr>
                </a:solidFill>
              </a:rPr>
              <a:t>تغییر در اجابت مزاج </a:t>
            </a:r>
            <a:r>
              <a:rPr lang="fa-IR" sz="3600" dirty="0" smtClean="0">
                <a:solidFill>
                  <a:schemeClr val="accent4">
                    <a:lumMod val="50000"/>
                  </a:schemeClr>
                </a:solidFill>
              </a:rPr>
              <a:t>وخصوصیات مدفوع</a:t>
            </a:r>
            <a:endParaRPr lang="fa-IR" sz="3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fa-IR" dirty="0" smtClean="0"/>
              <a:t>افزایش </a:t>
            </a:r>
            <a:r>
              <a:rPr lang="fa-IR" dirty="0"/>
              <a:t>دفعات و یا کاهش دفعات اجابت مزاج و یا هر </a:t>
            </a:r>
            <a:r>
              <a:rPr lang="fa-IR" dirty="0" smtClean="0"/>
              <a:t>گونه تغییر </a:t>
            </a:r>
            <a:r>
              <a:rPr lang="fa-IR" dirty="0"/>
              <a:t>در اجابت مزاج بررسی می </a:t>
            </a:r>
            <a:r>
              <a:rPr lang="fa-IR" dirty="0" smtClean="0"/>
              <a:t>شود</a:t>
            </a:r>
            <a:endParaRPr lang="fa-IR" dirty="0"/>
          </a:p>
          <a:p>
            <a:pPr marL="0" indent="0" algn="r">
              <a:buNone/>
            </a:pPr>
            <a:r>
              <a:rPr lang="fa-IR"/>
              <a:t>رنگ </a:t>
            </a:r>
            <a:r>
              <a:rPr lang="fa-IR" smtClean="0"/>
              <a:t>مدفوع، </a:t>
            </a:r>
            <a:r>
              <a:rPr lang="fa-IR" dirty="0"/>
              <a:t>زرد روشن تا قهوه ای تیره است</a:t>
            </a:r>
          </a:p>
          <a:p>
            <a:pPr marL="0" indent="0" algn="r">
              <a:buNone/>
            </a:pPr>
            <a:endParaRPr lang="fa-IR" dirty="0"/>
          </a:p>
          <a:p>
            <a:pPr marL="0" indent="0" algn="r">
              <a:buNone/>
            </a:pPr>
            <a:r>
              <a:rPr lang="fa-IR" dirty="0"/>
              <a:t>مدفوع دارای </a:t>
            </a:r>
            <a:r>
              <a:rPr lang="fa-IR" dirty="0">
                <a:solidFill>
                  <a:srgbClr val="FF0000"/>
                </a:solidFill>
              </a:rPr>
              <a:t>خون قرمز </a:t>
            </a:r>
            <a:r>
              <a:rPr lang="fa-IR" dirty="0" smtClean="0">
                <a:solidFill>
                  <a:srgbClr val="FF0000"/>
                </a:solidFill>
              </a:rPr>
              <a:t>(هماتوشزیا  یا  رکتوراژی) </a:t>
            </a:r>
            <a:r>
              <a:rPr lang="fa-IR" dirty="0" smtClean="0"/>
              <a:t>نشان ازخونریزی </a:t>
            </a:r>
            <a:r>
              <a:rPr lang="fa-IR" dirty="0"/>
              <a:t>فعال در قسمت تحتانی گوارش </a:t>
            </a:r>
            <a:r>
              <a:rPr lang="fa-IR" dirty="0" smtClean="0"/>
              <a:t>است</a:t>
            </a:r>
            <a:endParaRPr lang="fa-IR" dirty="0"/>
          </a:p>
          <a:p>
            <a:pPr marL="0" indent="0" algn="r">
              <a:buNone/>
            </a:pPr>
            <a:endParaRPr lang="fa-IR" dirty="0"/>
          </a:p>
          <a:p>
            <a:pPr marL="0" indent="0" algn="r" rtl="1">
              <a:buNone/>
            </a:pPr>
            <a:r>
              <a:rPr lang="fa-IR" dirty="0"/>
              <a:t>مدفوع قیری </a:t>
            </a:r>
            <a:r>
              <a:rPr lang="fa-IR" dirty="0" smtClean="0"/>
              <a:t>رنگ(ملنا</a:t>
            </a:r>
            <a:r>
              <a:rPr lang="en-US" dirty="0" err="1" smtClean="0"/>
              <a:t>melna</a:t>
            </a:r>
            <a:r>
              <a:rPr lang="fa-IR" dirty="0" smtClean="0"/>
              <a:t>) </a:t>
            </a:r>
            <a:r>
              <a:rPr lang="fa-IR" dirty="0"/>
              <a:t>نشان از خونریزی قسمت فوقانی </a:t>
            </a:r>
            <a:r>
              <a:rPr lang="fa-IR" dirty="0" smtClean="0"/>
              <a:t>گوارش است.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4229494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1262</Words>
  <Application>Microsoft Office PowerPoint</Application>
  <PresentationFormat>Widescreen</PresentationFormat>
  <Paragraphs>170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B Nazanin</vt:lpstr>
      <vt:lpstr>Calibri</vt:lpstr>
      <vt:lpstr>Calibri Light</vt:lpstr>
      <vt:lpstr>Times New Roman</vt:lpstr>
      <vt:lpstr>Office Theme</vt:lpstr>
      <vt:lpstr>بسمه تعالی</vt:lpstr>
      <vt:lpstr>اصطلاحات</vt:lpstr>
      <vt:lpstr>PowerPoint Presentation</vt:lpstr>
      <vt:lpstr>PowerPoint Presentation</vt:lpstr>
      <vt:lpstr>سیستم گوارش </vt:lpstr>
      <vt:lpstr>Esophagusمری </vt:lpstr>
      <vt:lpstr>معده stomach</vt:lpstr>
      <vt:lpstr>روده کوچک </vt:lpstr>
      <vt:lpstr>روده بزرگ  colon </vt:lpstr>
      <vt:lpstr>گردش خون دستگاه گوارش </vt:lpstr>
      <vt:lpstr>PowerPoint Presentation</vt:lpstr>
      <vt:lpstr>عصب دهی لوله گوارش </vt:lpstr>
      <vt:lpstr>عملکرد معده </vt:lpstr>
      <vt:lpstr>عملکرد روده </vt:lpstr>
      <vt:lpstr>PowerPoint Presentation</vt:lpstr>
      <vt:lpstr>عملکرد کولون </vt:lpstr>
      <vt:lpstr>PowerPoint Presentation</vt:lpstr>
      <vt:lpstr>PowerPoint Presentation</vt:lpstr>
      <vt:lpstr>بررسی تظاهرات بالینی </vt:lpstr>
      <vt:lpstr>PowerPoint Presentation</vt:lpstr>
      <vt:lpstr>PowerPoint Presentation</vt:lpstr>
      <vt:lpstr> سوء هاضمه dyspepsia </vt:lpstr>
      <vt:lpstr>نفخ  یا  گاز روده </vt:lpstr>
      <vt:lpstr>تهوع  nauisiaواستفراغvomiting  </vt:lpstr>
      <vt:lpstr>  تغییر در اجابت مزاج وخصوصیات مدفوع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بسمه تعالی</dc:title>
  <dc:creator>Andisheh</dc:creator>
  <cp:lastModifiedBy>Andisheh</cp:lastModifiedBy>
  <cp:revision>61</cp:revision>
  <dcterms:created xsi:type="dcterms:W3CDTF">2024-04-20T18:31:16Z</dcterms:created>
  <dcterms:modified xsi:type="dcterms:W3CDTF">2026-10-03T17:33:42Z</dcterms:modified>
</cp:coreProperties>
</file>